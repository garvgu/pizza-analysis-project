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Heading Now 71-78" charset="1" panose="00000000000000000000"/>
      <p:regular r:id="rId21"/>
    </p:embeddedFont>
    <p:embeddedFont>
      <p:font typeface="TT Firs Neue" charset="1" panose="02000503030000020004"/>
      <p:regular r:id="rId22"/>
    </p:embeddedFont>
    <p:embeddedFont>
      <p:font typeface="TT Firs Neue Bold" charset="1" panose="020008030300000200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7.png" Type="http://schemas.openxmlformats.org/officeDocument/2006/relationships/image"/><Relationship Id="rId6" Target="../media/image12.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20.png" Type="http://schemas.openxmlformats.org/officeDocument/2006/relationships/image"/><Relationship Id="rId12" Target="../media/image21.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2.png" Type="http://schemas.openxmlformats.org/officeDocument/2006/relationships/image"/><Relationship Id="rId7" Target="../media/image19.pn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2.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2.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7.png" Type="http://schemas.openxmlformats.org/officeDocument/2006/relationships/image"/><Relationship Id="rId9"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7.png" Type="http://schemas.openxmlformats.org/officeDocument/2006/relationships/image"/><Relationship Id="rId9" Target="../media/image2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7.png" Type="http://schemas.openxmlformats.org/officeDocument/2006/relationships/image"/><Relationship Id="rId9"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7.png" Type="http://schemas.openxmlformats.org/officeDocument/2006/relationships/image"/><Relationship Id="rId9" Target="../media/image3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7.png" Type="http://schemas.openxmlformats.org/officeDocument/2006/relationships/image"/><Relationship Id="rId9"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7.png" Type="http://schemas.openxmlformats.org/officeDocument/2006/relationships/image"/><Relationship Id="rId9"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7.png" Type="http://schemas.openxmlformats.org/officeDocument/2006/relationships/image"/><Relationship Id="rId9" Target="../media/image3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7.png" Type="http://schemas.openxmlformats.org/officeDocument/2006/relationships/image"/><Relationship Id="rId9" Target="../media/image3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7.png" Type="http://schemas.openxmlformats.org/officeDocument/2006/relationships/image"/><Relationship Id="rId9" Target="../media/image4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7.png" Type="http://schemas.openxmlformats.org/officeDocument/2006/relationships/image"/><Relationship Id="rId9" Target="../media/image4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7866725">
            <a:off x="8624108" y="-249563"/>
            <a:ext cx="11474252" cy="11383083"/>
          </a:xfrm>
          <a:custGeom>
            <a:avLst/>
            <a:gdLst/>
            <a:ahLst/>
            <a:cxnLst/>
            <a:rect r="r" b="b" t="t" l="l"/>
            <a:pathLst>
              <a:path h="11383083" w="11474252">
                <a:moveTo>
                  <a:pt x="0" y="0"/>
                </a:moveTo>
                <a:lnTo>
                  <a:pt x="11474252" y="0"/>
                </a:lnTo>
                <a:lnTo>
                  <a:pt x="11474252" y="11383084"/>
                </a:lnTo>
                <a:lnTo>
                  <a:pt x="0" y="113830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589116" y="-125111"/>
            <a:ext cx="11340367" cy="11134179"/>
          </a:xfrm>
          <a:custGeom>
            <a:avLst/>
            <a:gdLst/>
            <a:ahLst/>
            <a:cxnLst/>
            <a:rect r="r" b="b" t="t" l="l"/>
            <a:pathLst>
              <a:path h="11134179" w="11340367">
                <a:moveTo>
                  <a:pt x="0" y="0"/>
                </a:moveTo>
                <a:lnTo>
                  <a:pt x="11340368" y="0"/>
                </a:lnTo>
                <a:lnTo>
                  <a:pt x="11340368" y="11134179"/>
                </a:lnTo>
                <a:lnTo>
                  <a:pt x="0" y="11134179"/>
                </a:lnTo>
                <a:lnTo>
                  <a:pt x="0" y="0"/>
                </a:lnTo>
                <a:close/>
              </a:path>
            </a:pathLst>
          </a:custGeom>
          <a:blipFill>
            <a:blip r:embed="rId4"/>
            <a:stretch>
              <a:fillRect l="0" t="0" r="0" b="0"/>
            </a:stretch>
          </a:blipFill>
        </p:spPr>
      </p:sp>
      <p:grpSp>
        <p:nvGrpSpPr>
          <p:cNvPr name="Group 4" id="4"/>
          <p:cNvGrpSpPr/>
          <p:nvPr/>
        </p:nvGrpSpPr>
        <p:grpSpPr>
          <a:xfrm rot="0">
            <a:off x="-2532173" y="-235757"/>
            <a:ext cx="3351703" cy="11793621"/>
            <a:chOff x="0" y="0"/>
            <a:chExt cx="4468938" cy="15724828"/>
          </a:xfrm>
        </p:grpSpPr>
        <p:sp>
          <p:nvSpPr>
            <p:cNvPr name="Freeform 5" id="5"/>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10" id="10"/>
          <p:cNvSpPr/>
          <p:nvPr/>
        </p:nvSpPr>
        <p:spPr>
          <a:xfrm flipH="false" flipV="false" rot="6690011">
            <a:off x="5632376" y="1371627"/>
            <a:ext cx="1958923" cy="3392075"/>
          </a:xfrm>
          <a:custGeom>
            <a:avLst/>
            <a:gdLst/>
            <a:ahLst/>
            <a:cxnLst/>
            <a:rect r="r" b="b" t="t" l="l"/>
            <a:pathLst>
              <a:path h="3392075" w="1958923">
                <a:moveTo>
                  <a:pt x="0" y="0"/>
                </a:moveTo>
                <a:lnTo>
                  <a:pt x="1958923" y="0"/>
                </a:lnTo>
                <a:lnTo>
                  <a:pt x="1958923" y="3392075"/>
                </a:lnTo>
                <a:lnTo>
                  <a:pt x="0" y="3392075"/>
                </a:lnTo>
                <a:lnTo>
                  <a:pt x="0" y="0"/>
                </a:lnTo>
                <a:close/>
              </a:path>
            </a:pathLst>
          </a:custGeom>
          <a:blipFill>
            <a:blip r:embed="rId7"/>
            <a:stretch>
              <a:fillRect l="0" t="0" r="0" b="0"/>
            </a:stretch>
          </a:blipFill>
        </p:spPr>
      </p:sp>
      <p:sp>
        <p:nvSpPr>
          <p:cNvPr name="Freeform 11" id="11"/>
          <p:cNvSpPr/>
          <p:nvPr/>
        </p:nvSpPr>
        <p:spPr>
          <a:xfrm flipH="false" flipV="false" rot="5616794">
            <a:off x="1855401" y="6999923"/>
            <a:ext cx="831299" cy="1298905"/>
          </a:xfrm>
          <a:custGeom>
            <a:avLst/>
            <a:gdLst/>
            <a:ahLst/>
            <a:cxnLst/>
            <a:rect r="r" b="b" t="t" l="l"/>
            <a:pathLst>
              <a:path h="1298905" w="831299">
                <a:moveTo>
                  <a:pt x="0" y="0"/>
                </a:moveTo>
                <a:lnTo>
                  <a:pt x="831299" y="0"/>
                </a:lnTo>
                <a:lnTo>
                  <a:pt x="831299" y="1298904"/>
                </a:lnTo>
                <a:lnTo>
                  <a:pt x="0" y="1298904"/>
                </a:lnTo>
                <a:lnTo>
                  <a:pt x="0" y="0"/>
                </a:lnTo>
                <a:close/>
              </a:path>
            </a:pathLst>
          </a:custGeom>
          <a:blipFill>
            <a:blip r:embed="rId8"/>
            <a:stretch>
              <a:fillRect l="0" t="0" r="0" b="0"/>
            </a:stretch>
          </a:blipFill>
        </p:spPr>
      </p:sp>
      <p:sp>
        <p:nvSpPr>
          <p:cNvPr name="Freeform 12" id="12"/>
          <p:cNvSpPr/>
          <p:nvPr/>
        </p:nvSpPr>
        <p:spPr>
          <a:xfrm flipH="true" flipV="false" rot="-7334142">
            <a:off x="10810052" y="9166504"/>
            <a:ext cx="1010942" cy="1579596"/>
          </a:xfrm>
          <a:custGeom>
            <a:avLst/>
            <a:gdLst/>
            <a:ahLst/>
            <a:cxnLst/>
            <a:rect r="r" b="b" t="t" l="l"/>
            <a:pathLst>
              <a:path h="1579596" w="1010942">
                <a:moveTo>
                  <a:pt x="1010942" y="0"/>
                </a:moveTo>
                <a:lnTo>
                  <a:pt x="0" y="0"/>
                </a:lnTo>
                <a:lnTo>
                  <a:pt x="0" y="1579596"/>
                </a:lnTo>
                <a:lnTo>
                  <a:pt x="1010942" y="1579596"/>
                </a:lnTo>
                <a:lnTo>
                  <a:pt x="1010942" y="0"/>
                </a:lnTo>
                <a:close/>
              </a:path>
            </a:pathLst>
          </a:custGeom>
          <a:blipFill>
            <a:blip r:embed="rId8"/>
            <a:stretch>
              <a:fillRect l="0" t="0" r="0" b="0"/>
            </a:stretch>
          </a:blipFill>
        </p:spPr>
      </p:sp>
      <p:sp>
        <p:nvSpPr>
          <p:cNvPr name="Freeform 13" id="13"/>
          <p:cNvSpPr/>
          <p:nvPr/>
        </p:nvSpPr>
        <p:spPr>
          <a:xfrm flipH="false" flipV="true" rot="-4312948">
            <a:off x="3054659" y="-914909"/>
            <a:ext cx="1010942" cy="1579596"/>
          </a:xfrm>
          <a:custGeom>
            <a:avLst/>
            <a:gdLst/>
            <a:ahLst/>
            <a:cxnLst/>
            <a:rect r="r" b="b" t="t" l="l"/>
            <a:pathLst>
              <a:path h="1579596" w="1010942">
                <a:moveTo>
                  <a:pt x="0" y="1579597"/>
                </a:moveTo>
                <a:lnTo>
                  <a:pt x="1010942" y="1579597"/>
                </a:lnTo>
                <a:lnTo>
                  <a:pt x="1010942" y="0"/>
                </a:lnTo>
                <a:lnTo>
                  <a:pt x="0" y="0"/>
                </a:lnTo>
                <a:lnTo>
                  <a:pt x="0" y="1579597"/>
                </a:lnTo>
                <a:close/>
              </a:path>
            </a:pathLst>
          </a:custGeom>
          <a:blipFill>
            <a:blip r:embed="rId8"/>
            <a:stretch>
              <a:fillRect l="0" t="0" r="0" b="0"/>
            </a:stretch>
          </a:blipFill>
        </p:spPr>
      </p:sp>
      <p:sp>
        <p:nvSpPr>
          <p:cNvPr name="Freeform 14" id="14"/>
          <p:cNvSpPr/>
          <p:nvPr/>
        </p:nvSpPr>
        <p:spPr>
          <a:xfrm flipH="false" flipV="false" rot="0">
            <a:off x="8548835" y="-1389249"/>
            <a:ext cx="2079169" cy="2306984"/>
          </a:xfrm>
          <a:custGeom>
            <a:avLst/>
            <a:gdLst/>
            <a:ahLst/>
            <a:cxnLst/>
            <a:rect r="r" b="b" t="t" l="l"/>
            <a:pathLst>
              <a:path h="2306984" w="2079169">
                <a:moveTo>
                  <a:pt x="0" y="0"/>
                </a:moveTo>
                <a:lnTo>
                  <a:pt x="2079170" y="0"/>
                </a:lnTo>
                <a:lnTo>
                  <a:pt x="2079170" y="2306984"/>
                </a:lnTo>
                <a:lnTo>
                  <a:pt x="0" y="2306984"/>
                </a:lnTo>
                <a:lnTo>
                  <a:pt x="0" y="0"/>
                </a:lnTo>
                <a:close/>
              </a:path>
            </a:pathLst>
          </a:custGeom>
          <a:blipFill>
            <a:blip r:embed="rId9"/>
            <a:stretch>
              <a:fillRect l="0" t="0" r="0" b="0"/>
            </a:stretch>
          </a:blipFill>
        </p:spPr>
      </p:sp>
      <p:sp>
        <p:nvSpPr>
          <p:cNvPr name="TextBox 15" id="15"/>
          <p:cNvSpPr txBox="true"/>
          <p:nvPr/>
        </p:nvSpPr>
        <p:spPr>
          <a:xfrm rot="0">
            <a:off x="1939517" y="3516659"/>
            <a:ext cx="6764504" cy="1925320"/>
          </a:xfrm>
          <a:prstGeom prst="rect">
            <a:avLst/>
          </a:prstGeom>
        </p:spPr>
        <p:txBody>
          <a:bodyPr anchor="t" rtlCol="false" tIns="0" lIns="0" bIns="0" rIns="0">
            <a:spAutoFit/>
          </a:bodyPr>
          <a:lstStyle/>
          <a:p>
            <a:pPr algn="l">
              <a:lnSpc>
                <a:spcPts val="6800"/>
              </a:lnSpc>
            </a:pPr>
            <a:r>
              <a:rPr lang="en-US" sz="6800" spc="-374">
                <a:solidFill>
                  <a:srgbClr val="FFFFFF"/>
                </a:solidFill>
                <a:latin typeface="Heading Now 71-78"/>
                <a:ea typeface="Heading Now 71-78"/>
                <a:cs typeface="Heading Now 71-78"/>
                <a:sym typeface="Heading Now 71-78"/>
              </a:rPr>
              <a:t>Product Presentation</a:t>
            </a:r>
          </a:p>
        </p:txBody>
      </p:sp>
      <p:sp>
        <p:nvSpPr>
          <p:cNvPr name="TextBox 16" id="16"/>
          <p:cNvSpPr txBox="true"/>
          <p:nvPr/>
        </p:nvSpPr>
        <p:spPr>
          <a:xfrm rot="0">
            <a:off x="1939517" y="8909000"/>
            <a:ext cx="4102496" cy="349300"/>
          </a:xfrm>
          <a:prstGeom prst="rect">
            <a:avLst/>
          </a:prstGeom>
        </p:spPr>
        <p:txBody>
          <a:bodyPr anchor="t" rtlCol="false" tIns="0" lIns="0" bIns="0" rIns="0">
            <a:spAutoFit/>
          </a:bodyPr>
          <a:lstStyle/>
          <a:p>
            <a:pPr algn="l">
              <a:lnSpc>
                <a:spcPts val="2800"/>
              </a:lnSpc>
            </a:pPr>
            <a:r>
              <a:rPr lang="en-US" sz="2000">
                <a:solidFill>
                  <a:srgbClr val="FFFFFF"/>
                </a:solidFill>
                <a:latin typeface="TT Firs Neue"/>
                <a:ea typeface="TT Firs Neue"/>
                <a:cs typeface="TT Firs Neue"/>
                <a:sym typeface="TT Firs Neue"/>
              </a:rPr>
              <a:t>www.</a:t>
            </a:r>
            <a:r>
              <a:rPr lang="en-US" sz="2000">
                <a:solidFill>
                  <a:srgbClr val="FFFFFF"/>
                </a:solidFill>
                <a:latin typeface="TT Firs Neue"/>
                <a:ea typeface="TT Firs Neue"/>
                <a:cs typeface="TT Firs Neue"/>
                <a:sym typeface="TT Firs Neue"/>
              </a:rPr>
              <a:t>reallygreatsite.com</a:t>
            </a:r>
          </a:p>
        </p:txBody>
      </p:sp>
      <p:sp>
        <p:nvSpPr>
          <p:cNvPr name="TextBox 17" id="17"/>
          <p:cNvSpPr txBox="true"/>
          <p:nvPr/>
        </p:nvSpPr>
        <p:spPr>
          <a:xfrm rot="0">
            <a:off x="1939517" y="5613429"/>
            <a:ext cx="4535405" cy="405765"/>
          </a:xfrm>
          <a:prstGeom prst="rect">
            <a:avLst/>
          </a:prstGeom>
        </p:spPr>
        <p:txBody>
          <a:bodyPr anchor="t" rtlCol="false" tIns="0" lIns="0" bIns="0" rIns="0">
            <a:spAutoFit/>
          </a:bodyPr>
          <a:lstStyle/>
          <a:p>
            <a:pPr algn="l">
              <a:lnSpc>
                <a:spcPts val="3359"/>
              </a:lnSpc>
            </a:pPr>
            <a:r>
              <a:rPr lang="en-US" sz="2400" b="true">
                <a:solidFill>
                  <a:srgbClr val="FFFFFF"/>
                </a:solidFill>
                <a:latin typeface="TT Firs Neue Bold"/>
                <a:ea typeface="TT Firs Neue Bold"/>
                <a:cs typeface="TT Firs Neue Bold"/>
                <a:sym typeface="TT Firs Neue Bold"/>
              </a:rPr>
              <a:t>Premi</a:t>
            </a:r>
            <a:r>
              <a:rPr lang="en-US" sz="2400" b="true">
                <a:solidFill>
                  <a:srgbClr val="FFFFFF"/>
                </a:solidFill>
                <a:latin typeface="TT Firs Neue Bold"/>
                <a:ea typeface="TT Firs Neue Bold"/>
                <a:cs typeface="TT Firs Neue Bold"/>
                <a:sym typeface="TT Firs Neue Bold"/>
              </a:rPr>
              <a:t>um Pizza Innovation</a:t>
            </a:r>
          </a:p>
        </p:txBody>
      </p:sp>
      <p:sp>
        <p:nvSpPr>
          <p:cNvPr name="TextBox 18" id="18"/>
          <p:cNvSpPr txBox="true"/>
          <p:nvPr/>
        </p:nvSpPr>
        <p:spPr>
          <a:xfrm rot="0">
            <a:off x="1939517" y="1487127"/>
            <a:ext cx="4361213" cy="405765"/>
          </a:xfrm>
          <a:prstGeom prst="rect">
            <a:avLst/>
          </a:prstGeom>
        </p:spPr>
        <p:txBody>
          <a:bodyPr anchor="t" rtlCol="false" tIns="0" lIns="0" bIns="0" rIns="0">
            <a:spAutoFit/>
          </a:bodyPr>
          <a:lstStyle/>
          <a:p>
            <a:pPr algn="l">
              <a:lnSpc>
                <a:spcPts val="3359"/>
              </a:lnSpc>
            </a:pPr>
            <a:r>
              <a:rPr lang="en-US" sz="2400" b="true">
                <a:solidFill>
                  <a:srgbClr val="FFFFFF"/>
                </a:solidFill>
                <a:latin typeface="TT Firs Neue Bold"/>
                <a:ea typeface="TT Firs Neue Bold"/>
                <a:cs typeface="TT Firs Neue Bold"/>
                <a:sym typeface="TT Firs Neue Bold"/>
              </a:rPr>
              <a:t>F</a:t>
            </a:r>
            <a:r>
              <a:rPr lang="en-US" sz="2400" b="true">
                <a:solidFill>
                  <a:srgbClr val="FFFFFF"/>
                </a:solidFill>
                <a:latin typeface="TT Firs Neue Bold"/>
                <a:ea typeface="TT Firs Neue Bold"/>
                <a:cs typeface="TT Firs Neue Bold"/>
                <a:sym typeface="TT Firs Neue Bold"/>
              </a:rPr>
              <a:t>radel and Spies</a:t>
            </a:r>
          </a:p>
        </p:txBody>
      </p:sp>
      <p:sp>
        <p:nvSpPr>
          <p:cNvPr name="TextBox 19" id="19"/>
          <p:cNvSpPr txBox="true"/>
          <p:nvPr/>
        </p:nvSpPr>
        <p:spPr>
          <a:xfrm rot="0">
            <a:off x="6042013" y="8390894"/>
            <a:ext cx="2195335" cy="349300"/>
          </a:xfrm>
          <a:prstGeom prst="rect">
            <a:avLst/>
          </a:prstGeom>
        </p:spPr>
        <p:txBody>
          <a:bodyPr anchor="t" rtlCol="false" tIns="0" lIns="0" bIns="0" rIns="0">
            <a:spAutoFit/>
          </a:bodyPr>
          <a:lstStyle/>
          <a:p>
            <a:pPr algn="l">
              <a:lnSpc>
                <a:spcPts val="2800"/>
              </a:lnSpc>
            </a:pPr>
            <a:r>
              <a:rPr lang="en-US" sz="2000">
                <a:solidFill>
                  <a:srgbClr val="FFFFFF"/>
                </a:solidFill>
                <a:latin typeface="TT Firs Neue"/>
                <a:ea typeface="TT Firs Neue"/>
                <a:cs typeface="TT Firs Neue"/>
                <a:sym typeface="TT Firs Neue"/>
              </a:rPr>
              <a:t>P</a:t>
            </a:r>
            <a:r>
              <a:rPr lang="en-US" sz="2000">
                <a:solidFill>
                  <a:srgbClr val="FFFFFF"/>
                </a:solidFill>
                <a:latin typeface="TT Firs Neue"/>
                <a:ea typeface="TT Firs Neue"/>
                <a:cs typeface="TT Firs Neue"/>
                <a:sym typeface="TT Firs Neue"/>
              </a:rPr>
              <a:t>resented By:</a:t>
            </a:r>
          </a:p>
        </p:txBody>
      </p:sp>
      <p:sp>
        <p:nvSpPr>
          <p:cNvPr name="TextBox 20" id="20"/>
          <p:cNvSpPr txBox="true"/>
          <p:nvPr/>
        </p:nvSpPr>
        <p:spPr>
          <a:xfrm rot="0">
            <a:off x="6042013" y="8909000"/>
            <a:ext cx="2195335" cy="349250"/>
          </a:xfrm>
          <a:prstGeom prst="rect">
            <a:avLst/>
          </a:prstGeom>
        </p:spPr>
        <p:txBody>
          <a:bodyPr anchor="t" rtlCol="false" tIns="0" lIns="0" bIns="0" rIns="0">
            <a:spAutoFit/>
          </a:bodyPr>
          <a:lstStyle/>
          <a:p>
            <a:pPr algn="l">
              <a:lnSpc>
                <a:spcPts val="2800"/>
              </a:lnSpc>
            </a:pPr>
            <a:r>
              <a:rPr lang="en-US" sz="2000" b="true">
                <a:solidFill>
                  <a:srgbClr val="FFFFFF"/>
                </a:solidFill>
                <a:latin typeface="TT Firs Neue Bold"/>
                <a:ea typeface="TT Firs Neue Bold"/>
                <a:cs typeface="TT Firs Neue Bold"/>
                <a:sym typeface="TT Firs Neue Bold"/>
              </a:rPr>
              <a:t>Garvita Gupta</a:t>
            </a:r>
          </a:p>
        </p:txBody>
      </p:sp>
      <p:sp>
        <p:nvSpPr>
          <p:cNvPr name="Freeform 21" id="21"/>
          <p:cNvSpPr/>
          <p:nvPr/>
        </p:nvSpPr>
        <p:spPr>
          <a:xfrm flipH="false" flipV="false" rot="0">
            <a:off x="866237" y="9651649"/>
            <a:ext cx="2079169" cy="2306984"/>
          </a:xfrm>
          <a:custGeom>
            <a:avLst/>
            <a:gdLst/>
            <a:ahLst/>
            <a:cxnLst/>
            <a:rect r="r" b="b" t="t" l="l"/>
            <a:pathLst>
              <a:path h="2306984" w="2079169">
                <a:moveTo>
                  <a:pt x="0" y="0"/>
                </a:moveTo>
                <a:lnTo>
                  <a:pt x="2079169" y="0"/>
                </a:lnTo>
                <a:lnTo>
                  <a:pt x="2079169" y="2306984"/>
                </a:lnTo>
                <a:lnTo>
                  <a:pt x="0" y="2306984"/>
                </a:lnTo>
                <a:lnTo>
                  <a:pt x="0" y="0"/>
                </a:lnTo>
                <a:close/>
              </a:path>
            </a:pathLst>
          </a:custGeom>
          <a:blipFill>
            <a:blip r:embed="rId9"/>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422825" y="-1432112"/>
            <a:ext cx="15075368" cy="14390124"/>
          </a:xfrm>
          <a:custGeom>
            <a:avLst/>
            <a:gdLst/>
            <a:ahLst/>
            <a:cxnLst/>
            <a:rect r="r" b="b" t="t" l="l"/>
            <a:pathLst>
              <a:path h="14390124" w="15075368">
                <a:moveTo>
                  <a:pt x="0" y="0"/>
                </a:moveTo>
                <a:lnTo>
                  <a:pt x="15075368" y="0"/>
                </a:lnTo>
                <a:lnTo>
                  <a:pt x="15075368" y="14390124"/>
                </a:lnTo>
                <a:lnTo>
                  <a:pt x="0" y="143901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68882" y="-204561"/>
            <a:ext cx="8077952" cy="10852181"/>
            <a:chOff x="0" y="0"/>
            <a:chExt cx="1386708" cy="1862948"/>
          </a:xfrm>
        </p:grpSpPr>
        <p:sp>
          <p:nvSpPr>
            <p:cNvPr name="Freeform 4" id="4"/>
            <p:cNvSpPr/>
            <p:nvPr/>
          </p:nvSpPr>
          <p:spPr>
            <a:xfrm flipH="true" flipV="false" rot="0">
              <a:off x="0" y="0"/>
              <a:ext cx="1386708" cy="1862948"/>
            </a:xfrm>
            <a:custGeom>
              <a:avLst/>
              <a:gdLst/>
              <a:ahLst/>
              <a:cxnLst/>
              <a:rect r="r" b="b" t="t" l="l"/>
              <a:pathLst>
                <a:path h="1862948" w="1386708">
                  <a:moveTo>
                    <a:pt x="1353164" y="0"/>
                  </a:moveTo>
                  <a:lnTo>
                    <a:pt x="33544" y="0"/>
                  </a:lnTo>
                  <a:cubicBezTo>
                    <a:pt x="15018" y="0"/>
                    <a:pt x="0" y="15018"/>
                    <a:pt x="0" y="33544"/>
                  </a:cubicBezTo>
                  <a:lnTo>
                    <a:pt x="0" y="1829403"/>
                  </a:lnTo>
                  <a:cubicBezTo>
                    <a:pt x="0" y="1838300"/>
                    <a:pt x="3534" y="1846832"/>
                    <a:pt x="9825" y="1853123"/>
                  </a:cubicBezTo>
                  <a:cubicBezTo>
                    <a:pt x="16116" y="1859413"/>
                    <a:pt x="24648" y="1862948"/>
                    <a:pt x="33544" y="1862948"/>
                  </a:cubicBezTo>
                  <a:lnTo>
                    <a:pt x="1353164" y="1862948"/>
                  </a:lnTo>
                  <a:cubicBezTo>
                    <a:pt x="1362060" y="1862948"/>
                    <a:pt x="1370592" y="1859413"/>
                    <a:pt x="1376883" y="1853123"/>
                  </a:cubicBezTo>
                  <a:cubicBezTo>
                    <a:pt x="1383174" y="1846832"/>
                    <a:pt x="1386708" y="1838300"/>
                    <a:pt x="1386708" y="1829403"/>
                  </a:cubicBezTo>
                  <a:lnTo>
                    <a:pt x="1386708" y="33544"/>
                  </a:lnTo>
                  <a:cubicBezTo>
                    <a:pt x="1386708" y="24648"/>
                    <a:pt x="1383174" y="16116"/>
                    <a:pt x="1376883" y="9825"/>
                  </a:cubicBezTo>
                  <a:cubicBezTo>
                    <a:pt x="1370592" y="3534"/>
                    <a:pt x="1362060" y="0"/>
                    <a:pt x="1353164" y="0"/>
                  </a:cubicBezTo>
                  <a:close/>
                </a:path>
              </a:pathLst>
            </a:custGeom>
            <a:blipFill>
              <a:blip r:embed="rId4"/>
              <a:stretch>
                <a:fillRect l="0" t="0" r="-111564" b="0"/>
              </a:stretch>
            </a:blipFill>
          </p:spPr>
        </p:sp>
      </p:grpSp>
      <p:sp>
        <p:nvSpPr>
          <p:cNvPr name="TextBox 5" id="5"/>
          <p:cNvSpPr txBox="true"/>
          <p:nvPr/>
        </p:nvSpPr>
        <p:spPr>
          <a:xfrm rot="0">
            <a:off x="10012638" y="3112565"/>
            <a:ext cx="6550405" cy="1068070"/>
          </a:xfrm>
          <a:prstGeom prst="rect">
            <a:avLst/>
          </a:prstGeom>
        </p:spPr>
        <p:txBody>
          <a:bodyPr anchor="t" rtlCol="false" tIns="0" lIns="0" bIns="0" rIns="0">
            <a:spAutoFit/>
          </a:bodyPr>
          <a:lstStyle/>
          <a:p>
            <a:pPr algn="l">
              <a:lnSpc>
                <a:spcPts val="6800"/>
              </a:lnSpc>
            </a:pPr>
            <a:r>
              <a:rPr lang="en-US" sz="6800" spc="-374">
                <a:solidFill>
                  <a:srgbClr val="FFFFFF"/>
                </a:solidFill>
                <a:latin typeface="Heading Now 71-78"/>
                <a:ea typeface="Heading Now 71-78"/>
                <a:cs typeface="Heading Now 71-78"/>
                <a:sym typeface="Heading Now 71-78"/>
              </a:rPr>
              <a:t>Introduction</a:t>
            </a:r>
          </a:p>
        </p:txBody>
      </p:sp>
      <p:sp>
        <p:nvSpPr>
          <p:cNvPr name="Freeform 6" id="6"/>
          <p:cNvSpPr/>
          <p:nvPr/>
        </p:nvSpPr>
        <p:spPr>
          <a:xfrm flipH="false" flipV="false" rot="5616794">
            <a:off x="14962683" y="2104981"/>
            <a:ext cx="1026765" cy="1604321"/>
          </a:xfrm>
          <a:custGeom>
            <a:avLst/>
            <a:gdLst/>
            <a:ahLst/>
            <a:cxnLst/>
            <a:rect r="r" b="b" t="t" l="l"/>
            <a:pathLst>
              <a:path h="1604321" w="1026765">
                <a:moveTo>
                  <a:pt x="0" y="0"/>
                </a:moveTo>
                <a:lnTo>
                  <a:pt x="1026765" y="0"/>
                </a:lnTo>
                <a:lnTo>
                  <a:pt x="1026765" y="1604320"/>
                </a:lnTo>
                <a:lnTo>
                  <a:pt x="0" y="1604320"/>
                </a:lnTo>
                <a:lnTo>
                  <a:pt x="0" y="0"/>
                </a:lnTo>
                <a:close/>
              </a:path>
            </a:pathLst>
          </a:custGeom>
          <a:blipFill>
            <a:blip r:embed="rId5"/>
            <a:stretch>
              <a:fillRect l="0" t="0" r="0" b="0"/>
            </a:stretch>
          </a:blipFill>
        </p:spPr>
      </p:sp>
      <p:sp>
        <p:nvSpPr>
          <p:cNvPr name="Freeform 7" id="7"/>
          <p:cNvSpPr/>
          <p:nvPr/>
        </p:nvSpPr>
        <p:spPr>
          <a:xfrm flipH="false" flipV="false" rot="-10591778">
            <a:off x="7545612" y="9013694"/>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5"/>
            <a:stretch>
              <a:fillRect l="0" t="0" r="0" b="0"/>
            </a:stretch>
          </a:blipFill>
        </p:spPr>
      </p:sp>
      <p:sp>
        <p:nvSpPr>
          <p:cNvPr name="Freeform 8" id="8"/>
          <p:cNvSpPr/>
          <p:nvPr/>
        </p:nvSpPr>
        <p:spPr>
          <a:xfrm flipH="false" flipV="false" rot="3014036">
            <a:off x="13480374" y="6987273"/>
            <a:ext cx="4787409" cy="4542054"/>
          </a:xfrm>
          <a:custGeom>
            <a:avLst/>
            <a:gdLst/>
            <a:ahLst/>
            <a:cxnLst/>
            <a:rect r="r" b="b" t="t" l="l"/>
            <a:pathLst>
              <a:path h="4542054" w="4787409">
                <a:moveTo>
                  <a:pt x="0" y="0"/>
                </a:moveTo>
                <a:lnTo>
                  <a:pt x="4787409" y="0"/>
                </a:lnTo>
                <a:lnTo>
                  <a:pt x="4787409" y="4542054"/>
                </a:lnTo>
                <a:lnTo>
                  <a:pt x="0" y="4542054"/>
                </a:lnTo>
                <a:lnTo>
                  <a:pt x="0" y="0"/>
                </a:lnTo>
                <a:close/>
              </a:path>
            </a:pathLst>
          </a:custGeom>
          <a:blipFill>
            <a:blip r:embed="rId6"/>
            <a:stretch>
              <a:fillRect l="0" t="0" r="0" b="0"/>
            </a:stretch>
          </a:blipFill>
        </p:spPr>
      </p:sp>
      <p:grpSp>
        <p:nvGrpSpPr>
          <p:cNvPr name="Group 9" id="9"/>
          <p:cNvGrpSpPr/>
          <p:nvPr/>
        </p:nvGrpSpPr>
        <p:grpSpPr>
          <a:xfrm rot="0">
            <a:off x="17050990" y="-7757847"/>
            <a:ext cx="3351703" cy="11793621"/>
            <a:chOff x="0" y="0"/>
            <a:chExt cx="4468938" cy="15724828"/>
          </a:xfrm>
        </p:grpSpPr>
        <p:sp>
          <p:nvSpPr>
            <p:cNvPr name="Freeform 10" id="10"/>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Freeform 15" id="15"/>
          <p:cNvSpPr/>
          <p:nvPr/>
        </p:nvSpPr>
        <p:spPr>
          <a:xfrm flipH="false" flipV="false" rot="658052">
            <a:off x="4840126" y="1015688"/>
            <a:ext cx="2051356" cy="1711950"/>
          </a:xfrm>
          <a:custGeom>
            <a:avLst/>
            <a:gdLst/>
            <a:ahLst/>
            <a:cxnLst/>
            <a:rect r="r" b="b" t="t" l="l"/>
            <a:pathLst>
              <a:path h="1711950" w="2051356">
                <a:moveTo>
                  <a:pt x="0" y="0"/>
                </a:moveTo>
                <a:lnTo>
                  <a:pt x="2051356" y="0"/>
                </a:lnTo>
                <a:lnTo>
                  <a:pt x="2051356" y="1711949"/>
                </a:lnTo>
                <a:lnTo>
                  <a:pt x="0" y="171194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6" id="16"/>
          <p:cNvSpPr txBox="true"/>
          <p:nvPr/>
        </p:nvSpPr>
        <p:spPr>
          <a:xfrm rot="0">
            <a:off x="10012638" y="1817607"/>
            <a:ext cx="4361213" cy="405765"/>
          </a:xfrm>
          <a:prstGeom prst="rect">
            <a:avLst/>
          </a:prstGeom>
        </p:spPr>
        <p:txBody>
          <a:bodyPr anchor="t" rtlCol="false" tIns="0" lIns="0" bIns="0" rIns="0">
            <a:spAutoFit/>
          </a:bodyPr>
          <a:lstStyle/>
          <a:p>
            <a:pPr algn="l">
              <a:lnSpc>
                <a:spcPts val="3359"/>
              </a:lnSpc>
            </a:pPr>
            <a:r>
              <a:rPr lang="en-US" sz="2400" b="true">
                <a:solidFill>
                  <a:srgbClr val="FFFFFF"/>
                </a:solidFill>
                <a:latin typeface="TT Firs Neue Bold"/>
                <a:ea typeface="TT Firs Neue Bold"/>
                <a:cs typeface="TT Firs Neue Bold"/>
                <a:sym typeface="TT Firs Neue Bold"/>
              </a:rPr>
              <a:t>F</a:t>
            </a:r>
            <a:r>
              <a:rPr lang="en-US" sz="2400" b="true">
                <a:solidFill>
                  <a:srgbClr val="FFFFFF"/>
                </a:solidFill>
                <a:latin typeface="TT Firs Neue Bold"/>
                <a:ea typeface="TT Firs Neue Bold"/>
                <a:cs typeface="TT Firs Neue Bold"/>
                <a:sym typeface="TT Firs Neue Bold"/>
              </a:rPr>
              <a:t>radel and Spies</a:t>
            </a:r>
          </a:p>
        </p:txBody>
      </p:sp>
      <p:sp>
        <p:nvSpPr>
          <p:cNvPr name="TextBox 17" id="17"/>
          <p:cNvSpPr txBox="true"/>
          <p:nvPr/>
        </p:nvSpPr>
        <p:spPr>
          <a:xfrm rot="0">
            <a:off x="10004612" y="8072518"/>
            <a:ext cx="2360614" cy="349250"/>
          </a:xfrm>
          <a:prstGeom prst="rect">
            <a:avLst/>
          </a:prstGeom>
        </p:spPr>
        <p:txBody>
          <a:bodyPr anchor="t" rtlCol="false" tIns="0" lIns="0" bIns="0" rIns="0">
            <a:spAutoFit/>
          </a:bodyPr>
          <a:lstStyle/>
          <a:p>
            <a:pPr algn="l">
              <a:lnSpc>
                <a:spcPts val="2800"/>
              </a:lnSpc>
            </a:pPr>
            <a:r>
              <a:rPr lang="en-US" sz="2000" b="true">
                <a:solidFill>
                  <a:srgbClr val="FFFFFF"/>
                </a:solidFill>
                <a:latin typeface="TT Firs Neue Bold"/>
                <a:ea typeface="TT Firs Neue Bold"/>
                <a:cs typeface="TT Firs Neue Bold"/>
                <a:sym typeface="TT Firs Neue Bold"/>
              </a:rPr>
              <a:t>@reallygreatsite</a:t>
            </a:r>
          </a:p>
        </p:txBody>
      </p:sp>
      <p:sp>
        <p:nvSpPr>
          <p:cNvPr name="TextBox 18" id="18"/>
          <p:cNvSpPr txBox="true"/>
          <p:nvPr/>
        </p:nvSpPr>
        <p:spPr>
          <a:xfrm rot="0">
            <a:off x="10004612" y="4750425"/>
            <a:ext cx="7046378" cy="2463800"/>
          </a:xfrm>
          <a:prstGeom prst="rect">
            <a:avLst/>
          </a:prstGeom>
        </p:spPr>
        <p:txBody>
          <a:bodyPr anchor="t" rtlCol="false" tIns="0" lIns="0" bIns="0" rIns="0">
            <a:spAutoFit/>
          </a:bodyPr>
          <a:lstStyle/>
          <a:p>
            <a:pPr algn="l">
              <a:lnSpc>
                <a:spcPts val="2800"/>
              </a:lnSpc>
            </a:pPr>
            <a:r>
              <a:rPr lang="en-US" sz="2000">
                <a:solidFill>
                  <a:srgbClr val="FFFFFF"/>
                </a:solidFill>
                <a:latin typeface="TT Firs Neue"/>
                <a:ea typeface="TT Firs Neue"/>
                <a:cs typeface="TT Firs Neue"/>
                <a:sym typeface="TT Firs Neue"/>
              </a:rPr>
              <a:t>Pizza has always been one </a:t>
            </a:r>
            <a:r>
              <a:rPr lang="en-US" sz="2000">
                <a:solidFill>
                  <a:srgbClr val="FFFFFF"/>
                </a:solidFill>
                <a:latin typeface="TT Firs Neue"/>
                <a:ea typeface="TT Firs Neue"/>
                <a:cs typeface="TT Firs Neue"/>
                <a:sym typeface="TT Firs Neue"/>
              </a:rPr>
              <a:t>of the most beloved dishes worldwide, combining simple ingredients with irresistible flavors. Our new product takes pizza to the next level by combining authentic techniques with modern culinary innovation. Designed for pizza lovers of all ages, our product delivers a superior taste experience that’s both comforting and exciting.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798354" y="3274416"/>
            <a:ext cx="466091" cy="466091"/>
          </a:xfrm>
          <a:custGeom>
            <a:avLst/>
            <a:gdLst/>
            <a:ahLst/>
            <a:cxnLst/>
            <a:rect r="r" b="b" t="t" l="l"/>
            <a:pathLst>
              <a:path h="466091" w="466091">
                <a:moveTo>
                  <a:pt x="0" y="0"/>
                </a:moveTo>
                <a:lnTo>
                  <a:pt x="466090" y="0"/>
                </a:lnTo>
                <a:lnTo>
                  <a:pt x="466090"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812958" y="5058375"/>
            <a:ext cx="466091" cy="466091"/>
          </a:xfrm>
          <a:custGeom>
            <a:avLst/>
            <a:gdLst/>
            <a:ahLst/>
            <a:cxnLst/>
            <a:rect r="r" b="b" t="t" l="l"/>
            <a:pathLst>
              <a:path h="466091" w="466091">
                <a:moveTo>
                  <a:pt x="0" y="0"/>
                </a:moveTo>
                <a:lnTo>
                  <a:pt x="466091" y="0"/>
                </a:lnTo>
                <a:lnTo>
                  <a:pt x="466091"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625509" y="176192"/>
            <a:ext cx="14341107" cy="2787655"/>
          </a:xfrm>
          <a:prstGeom prst="rect">
            <a:avLst/>
          </a:prstGeom>
        </p:spPr>
        <p:txBody>
          <a:bodyPr anchor="t" rtlCol="false" tIns="0" lIns="0" bIns="0" rIns="0">
            <a:spAutoFit/>
          </a:bodyPr>
          <a:lstStyle/>
          <a:p>
            <a:pPr algn="ctr">
              <a:lnSpc>
                <a:spcPts val="11199"/>
              </a:lnSpc>
              <a:spcBef>
                <a:spcPct val="0"/>
              </a:spcBef>
            </a:pPr>
            <a:r>
              <a:rPr lang="en-US" b="true" sz="7999">
                <a:solidFill>
                  <a:srgbClr val="205E01"/>
                </a:solidFill>
                <a:latin typeface="TT Firs Neue Bold"/>
                <a:ea typeface="TT Firs Neue Bold"/>
                <a:cs typeface="TT Firs Neue Bold"/>
                <a:sym typeface="TT Firs Neue Bold"/>
              </a:rPr>
              <a:t>Retrieve the total number     of orders placed.</a:t>
            </a:r>
          </a:p>
        </p:txBody>
      </p:sp>
      <p:sp>
        <p:nvSpPr>
          <p:cNvPr name="Freeform 7" id="7"/>
          <p:cNvSpPr/>
          <p:nvPr/>
        </p:nvSpPr>
        <p:spPr>
          <a:xfrm flipH="true" flipV="false" rot="3014036">
            <a:off x="-1105693" y="-507556"/>
            <a:ext cx="3609137" cy="3424169"/>
          </a:xfrm>
          <a:custGeom>
            <a:avLst/>
            <a:gdLst/>
            <a:ahLst/>
            <a:cxnLst/>
            <a:rect r="r" b="b" t="t" l="l"/>
            <a:pathLst>
              <a:path h="3424169" w="3609137">
                <a:moveTo>
                  <a:pt x="3609137" y="0"/>
                </a:moveTo>
                <a:lnTo>
                  <a:pt x="0" y="0"/>
                </a:lnTo>
                <a:lnTo>
                  <a:pt x="0" y="3424169"/>
                </a:lnTo>
                <a:lnTo>
                  <a:pt x="3609137" y="3424169"/>
                </a:lnTo>
                <a:lnTo>
                  <a:pt x="3609137" y="0"/>
                </a:lnTo>
                <a:close/>
              </a:path>
            </a:pathLst>
          </a:custGeom>
          <a:blipFill>
            <a:blip r:embed="rId6"/>
            <a:stretch>
              <a:fillRect l="0" t="0" r="0" b="0"/>
            </a:stretch>
          </a:blipFill>
        </p:spPr>
      </p:sp>
      <p:sp>
        <p:nvSpPr>
          <p:cNvPr name="Freeform 8" id="8"/>
          <p:cNvSpPr/>
          <p:nvPr/>
        </p:nvSpPr>
        <p:spPr>
          <a:xfrm flipH="false" flipV="false" rot="0">
            <a:off x="10472657" y="2491647"/>
            <a:ext cx="11229008" cy="11229008"/>
          </a:xfrm>
          <a:custGeom>
            <a:avLst/>
            <a:gdLst/>
            <a:ahLst/>
            <a:cxnLst/>
            <a:rect r="r" b="b" t="t" l="l"/>
            <a:pathLst>
              <a:path h="11229008" w="11229008">
                <a:moveTo>
                  <a:pt x="0" y="0"/>
                </a:moveTo>
                <a:lnTo>
                  <a:pt x="11229008" y="0"/>
                </a:lnTo>
                <a:lnTo>
                  <a:pt x="11229008" y="11229008"/>
                </a:lnTo>
                <a:lnTo>
                  <a:pt x="0" y="11229008"/>
                </a:lnTo>
                <a:lnTo>
                  <a:pt x="0" y="0"/>
                </a:lnTo>
                <a:close/>
              </a:path>
            </a:pathLst>
          </a:custGeom>
          <a:blipFill>
            <a:blip r:embed="rId7"/>
            <a:stretch>
              <a:fillRect l="0" t="0" r="0" b="0"/>
            </a:stretch>
          </a:blipFill>
        </p:spPr>
      </p:sp>
      <p:grpSp>
        <p:nvGrpSpPr>
          <p:cNvPr name="Group 9" id="9"/>
          <p:cNvGrpSpPr/>
          <p:nvPr/>
        </p:nvGrpSpPr>
        <p:grpSpPr>
          <a:xfrm rot="0">
            <a:off x="17259300" y="-8974949"/>
            <a:ext cx="3351703" cy="11793621"/>
            <a:chOff x="0" y="0"/>
            <a:chExt cx="4468938" cy="15724828"/>
          </a:xfrm>
        </p:grpSpPr>
        <p:sp>
          <p:nvSpPr>
            <p:cNvPr name="Freeform 10" id="10"/>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5" id="15"/>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10"/>
            <a:stretch>
              <a:fillRect l="0" t="0" r="0" b="0"/>
            </a:stretch>
          </a:blipFill>
        </p:spPr>
      </p:sp>
      <p:sp>
        <p:nvSpPr>
          <p:cNvPr name="Freeform 16" id="16"/>
          <p:cNvSpPr/>
          <p:nvPr/>
        </p:nvSpPr>
        <p:spPr>
          <a:xfrm flipH="false" flipV="false" rot="0">
            <a:off x="2911557" y="3107498"/>
            <a:ext cx="9353978" cy="1950877"/>
          </a:xfrm>
          <a:custGeom>
            <a:avLst/>
            <a:gdLst/>
            <a:ahLst/>
            <a:cxnLst/>
            <a:rect r="r" b="b" t="t" l="l"/>
            <a:pathLst>
              <a:path h="1950877" w="9353978">
                <a:moveTo>
                  <a:pt x="0" y="0"/>
                </a:moveTo>
                <a:lnTo>
                  <a:pt x="9353978" y="0"/>
                </a:lnTo>
                <a:lnTo>
                  <a:pt x="9353978" y="1950877"/>
                </a:lnTo>
                <a:lnTo>
                  <a:pt x="0" y="1950877"/>
                </a:lnTo>
                <a:lnTo>
                  <a:pt x="0" y="0"/>
                </a:lnTo>
                <a:close/>
              </a:path>
            </a:pathLst>
          </a:custGeom>
          <a:blipFill>
            <a:blip r:embed="rId11"/>
            <a:stretch>
              <a:fillRect l="0" t="0" r="-20002" b="-4614"/>
            </a:stretch>
          </a:blipFill>
        </p:spPr>
      </p:sp>
      <p:sp>
        <p:nvSpPr>
          <p:cNvPr name="Freeform 17" id="17"/>
          <p:cNvSpPr/>
          <p:nvPr/>
        </p:nvSpPr>
        <p:spPr>
          <a:xfrm flipH="false" flipV="false" rot="0">
            <a:off x="5594131" y="5861285"/>
            <a:ext cx="3988830" cy="3397015"/>
          </a:xfrm>
          <a:custGeom>
            <a:avLst/>
            <a:gdLst/>
            <a:ahLst/>
            <a:cxnLst/>
            <a:rect r="r" b="b" t="t" l="l"/>
            <a:pathLst>
              <a:path h="3397015" w="3988830">
                <a:moveTo>
                  <a:pt x="0" y="0"/>
                </a:moveTo>
                <a:lnTo>
                  <a:pt x="3988830" y="0"/>
                </a:lnTo>
                <a:lnTo>
                  <a:pt x="3988830" y="3397015"/>
                </a:lnTo>
                <a:lnTo>
                  <a:pt x="0" y="3397015"/>
                </a:lnTo>
                <a:lnTo>
                  <a:pt x="0" y="0"/>
                </a:lnTo>
                <a:close/>
              </a:path>
            </a:pathLst>
          </a:custGeom>
          <a:blipFill>
            <a:blip r:embed="rId12"/>
            <a:stretch>
              <a:fillRect l="0" t="-17402" r="-140283" b="-29249"/>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798354" y="3274416"/>
            <a:ext cx="466091" cy="466091"/>
          </a:xfrm>
          <a:custGeom>
            <a:avLst/>
            <a:gdLst/>
            <a:ahLst/>
            <a:cxnLst/>
            <a:rect r="r" b="b" t="t" l="l"/>
            <a:pathLst>
              <a:path h="466091" w="466091">
                <a:moveTo>
                  <a:pt x="0" y="0"/>
                </a:moveTo>
                <a:lnTo>
                  <a:pt x="466090" y="0"/>
                </a:lnTo>
                <a:lnTo>
                  <a:pt x="466090"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812958" y="5058375"/>
            <a:ext cx="466091" cy="466091"/>
          </a:xfrm>
          <a:custGeom>
            <a:avLst/>
            <a:gdLst/>
            <a:ahLst/>
            <a:cxnLst/>
            <a:rect r="r" b="b" t="t" l="l"/>
            <a:pathLst>
              <a:path h="466091" w="466091">
                <a:moveTo>
                  <a:pt x="0" y="0"/>
                </a:moveTo>
                <a:lnTo>
                  <a:pt x="466091" y="0"/>
                </a:lnTo>
                <a:lnTo>
                  <a:pt x="466091"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625509" y="185717"/>
            <a:ext cx="12958867" cy="3806572"/>
          </a:xfrm>
          <a:prstGeom prst="rect">
            <a:avLst/>
          </a:prstGeom>
        </p:spPr>
        <p:txBody>
          <a:bodyPr anchor="t" rtlCol="false" tIns="0" lIns="0" bIns="0" rIns="0">
            <a:spAutoFit/>
          </a:bodyPr>
          <a:lstStyle/>
          <a:p>
            <a:pPr algn="ctr">
              <a:lnSpc>
                <a:spcPts val="10120"/>
              </a:lnSpc>
              <a:spcBef>
                <a:spcPct val="0"/>
              </a:spcBef>
            </a:pPr>
            <a:r>
              <a:rPr lang="en-US" b="true" sz="7228">
                <a:solidFill>
                  <a:srgbClr val="205E01"/>
                </a:solidFill>
                <a:latin typeface="TT Firs Neue Bold"/>
                <a:ea typeface="TT Firs Neue Bold"/>
                <a:cs typeface="TT Firs Neue Bold"/>
                <a:sym typeface="TT Firs Neue Bold"/>
              </a:rPr>
              <a:t>Calculate the total revenue generated from pizza sales.</a:t>
            </a:r>
          </a:p>
        </p:txBody>
      </p:sp>
      <p:sp>
        <p:nvSpPr>
          <p:cNvPr name="Freeform 7" id="7"/>
          <p:cNvSpPr/>
          <p:nvPr/>
        </p:nvSpPr>
        <p:spPr>
          <a:xfrm flipH="true" flipV="false" rot="3014036">
            <a:off x="-1105693" y="-507556"/>
            <a:ext cx="3609137" cy="3424169"/>
          </a:xfrm>
          <a:custGeom>
            <a:avLst/>
            <a:gdLst/>
            <a:ahLst/>
            <a:cxnLst/>
            <a:rect r="r" b="b" t="t" l="l"/>
            <a:pathLst>
              <a:path h="3424169" w="3609137">
                <a:moveTo>
                  <a:pt x="3609137" y="0"/>
                </a:moveTo>
                <a:lnTo>
                  <a:pt x="0" y="0"/>
                </a:lnTo>
                <a:lnTo>
                  <a:pt x="0" y="3424169"/>
                </a:lnTo>
                <a:lnTo>
                  <a:pt x="3609137" y="3424169"/>
                </a:lnTo>
                <a:lnTo>
                  <a:pt x="3609137" y="0"/>
                </a:lnTo>
                <a:close/>
              </a:path>
            </a:pathLst>
          </a:custGeom>
          <a:blipFill>
            <a:blip r:embed="rId6"/>
            <a:stretch>
              <a:fillRect l="0" t="0" r="0" b="0"/>
            </a:stretch>
          </a:blipFill>
        </p:spPr>
      </p:sp>
      <p:grpSp>
        <p:nvGrpSpPr>
          <p:cNvPr name="Group 8" id="8"/>
          <p:cNvGrpSpPr/>
          <p:nvPr/>
        </p:nvGrpSpPr>
        <p:grpSpPr>
          <a:xfrm rot="0">
            <a:off x="17259300" y="-8974949"/>
            <a:ext cx="3351703" cy="11793621"/>
            <a:chOff x="0" y="0"/>
            <a:chExt cx="4468938" cy="15724828"/>
          </a:xfrm>
        </p:grpSpPr>
        <p:sp>
          <p:nvSpPr>
            <p:cNvPr name="Freeform 9" id="9"/>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Freeform 14" id="14"/>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9"/>
            <a:stretch>
              <a:fillRect l="0" t="0" r="0" b="0"/>
            </a:stretch>
          </a:blipFill>
        </p:spPr>
      </p:sp>
      <p:sp>
        <p:nvSpPr>
          <p:cNvPr name="Freeform 15" id="15"/>
          <p:cNvSpPr/>
          <p:nvPr/>
        </p:nvSpPr>
        <p:spPr>
          <a:xfrm flipH="false" flipV="false" rot="0">
            <a:off x="2625509" y="3992289"/>
            <a:ext cx="13511763" cy="3920718"/>
          </a:xfrm>
          <a:custGeom>
            <a:avLst/>
            <a:gdLst/>
            <a:ahLst/>
            <a:cxnLst/>
            <a:rect r="r" b="b" t="t" l="l"/>
            <a:pathLst>
              <a:path h="3920718" w="13511763">
                <a:moveTo>
                  <a:pt x="0" y="0"/>
                </a:moveTo>
                <a:lnTo>
                  <a:pt x="13511763" y="0"/>
                </a:lnTo>
                <a:lnTo>
                  <a:pt x="13511763" y="3920718"/>
                </a:lnTo>
                <a:lnTo>
                  <a:pt x="0" y="3920718"/>
                </a:lnTo>
                <a:lnTo>
                  <a:pt x="0" y="0"/>
                </a:lnTo>
                <a:close/>
              </a:path>
            </a:pathLst>
          </a:custGeom>
          <a:blipFill>
            <a:blip r:embed="rId10"/>
            <a:stretch>
              <a:fillRect l="-449" t="0" r="-449" b="-1934"/>
            </a:stretch>
          </a:blipFill>
        </p:spPr>
      </p:sp>
      <p:sp>
        <p:nvSpPr>
          <p:cNvPr name="Freeform 16" id="16"/>
          <p:cNvSpPr/>
          <p:nvPr/>
        </p:nvSpPr>
        <p:spPr>
          <a:xfrm flipH="false" flipV="false" rot="0">
            <a:off x="5048085" y="7913007"/>
            <a:ext cx="4549485" cy="2278334"/>
          </a:xfrm>
          <a:custGeom>
            <a:avLst/>
            <a:gdLst/>
            <a:ahLst/>
            <a:cxnLst/>
            <a:rect r="r" b="b" t="t" l="l"/>
            <a:pathLst>
              <a:path h="2278334" w="4549485">
                <a:moveTo>
                  <a:pt x="0" y="0"/>
                </a:moveTo>
                <a:lnTo>
                  <a:pt x="4549486" y="0"/>
                </a:lnTo>
                <a:lnTo>
                  <a:pt x="4549486" y="2278334"/>
                </a:lnTo>
                <a:lnTo>
                  <a:pt x="0" y="2278334"/>
                </a:lnTo>
                <a:lnTo>
                  <a:pt x="0" y="0"/>
                </a:lnTo>
                <a:close/>
              </a:path>
            </a:pathLst>
          </a:custGeom>
          <a:blipFill>
            <a:blip r:embed="rId11"/>
            <a:stretch>
              <a:fillRect l="0" t="-88469" r="-106048"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798354" y="3274416"/>
            <a:ext cx="466091" cy="466091"/>
          </a:xfrm>
          <a:custGeom>
            <a:avLst/>
            <a:gdLst/>
            <a:ahLst/>
            <a:cxnLst/>
            <a:rect r="r" b="b" t="t" l="l"/>
            <a:pathLst>
              <a:path h="466091" w="466091">
                <a:moveTo>
                  <a:pt x="0" y="0"/>
                </a:moveTo>
                <a:lnTo>
                  <a:pt x="466090" y="0"/>
                </a:lnTo>
                <a:lnTo>
                  <a:pt x="466090"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812958" y="5058375"/>
            <a:ext cx="466091" cy="466091"/>
          </a:xfrm>
          <a:custGeom>
            <a:avLst/>
            <a:gdLst/>
            <a:ahLst/>
            <a:cxnLst/>
            <a:rect r="r" b="b" t="t" l="l"/>
            <a:pathLst>
              <a:path h="466091" w="466091">
                <a:moveTo>
                  <a:pt x="0" y="0"/>
                </a:moveTo>
                <a:lnTo>
                  <a:pt x="466091" y="0"/>
                </a:lnTo>
                <a:lnTo>
                  <a:pt x="466091"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625509" y="185717"/>
            <a:ext cx="12958867" cy="2524136"/>
          </a:xfrm>
          <a:prstGeom prst="rect">
            <a:avLst/>
          </a:prstGeom>
        </p:spPr>
        <p:txBody>
          <a:bodyPr anchor="t" rtlCol="false" tIns="0" lIns="0" bIns="0" rIns="0">
            <a:spAutoFit/>
          </a:bodyPr>
          <a:lstStyle/>
          <a:p>
            <a:pPr algn="ctr">
              <a:lnSpc>
                <a:spcPts val="10120"/>
              </a:lnSpc>
              <a:spcBef>
                <a:spcPct val="0"/>
              </a:spcBef>
            </a:pPr>
            <a:r>
              <a:rPr lang="en-US" b="true" sz="7228">
                <a:solidFill>
                  <a:srgbClr val="205E01"/>
                </a:solidFill>
                <a:latin typeface="TT Firs Neue Bold"/>
                <a:ea typeface="TT Firs Neue Bold"/>
                <a:cs typeface="TT Firs Neue Bold"/>
                <a:sym typeface="TT Firs Neue Bold"/>
              </a:rPr>
              <a:t>Identify the highest-priced pizza.</a:t>
            </a:r>
          </a:p>
        </p:txBody>
      </p:sp>
      <p:sp>
        <p:nvSpPr>
          <p:cNvPr name="Freeform 7" id="7"/>
          <p:cNvSpPr/>
          <p:nvPr/>
        </p:nvSpPr>
        <p:spPr>
          <a:xfrm flipH="true" flipV="false" rot="3014036">
            <a:off x="-1105693" y="-507556"/>
            <a:ext cx="3609137" cy="3424169"/>
          </a:xfrm>
          <a:custGeom>
            <a:avLst/>
            <a:gdLst/>
            <a:ahLst/>
            <a:cxnLst/>
            <a:rect r="r" b="b" t="t" l="l"/>
            <a:pathLst>
              <a:path h="3424169" w="3609137">
                <a:moveTo>
                  <a:pt x="3609137" y="0"/>
                </a:moveTo>
                <a:lnTo>
                  <a:pt x="0" y="0"/>
                </a:lnTo>
                <a:lnTo>
                  <a:pt x="0" y="3424169"/>
                </a:lnTo>
                <a:lnTo>
                  <a:pt x="3609137" y="3424169"/>
                </a:lnTo>
                <a:lnTo>
                  <a:pt x="3609137" y="0"/>
                </a:lnTo>
                <a:close/>
              </a:path>
            </a:pathLst>
          </a:custGeom>
          <a:blipFill>
            <a:blip r:embed="rId6"/>
            <a:stretch>
              <a:fillRect l="0" t="0" r="0" b="0"/>
            </a:stretch>
          </a:blipFill>
        </p:spPr>
      </p:sp>
      <p:grpSp>
        <p:nvGrpSpPr>
          <p:cNvPr name="Group 8" id="8"/>
          <p:cNvGrpSpPr/>
          <p:nvPr/>
        </p:nvGrpSpPr>
        <p:grpSpPr>
          <a:xfrm rot="0">
            <a:off x="17259300" y="-8974949"/>
            <a:ext cx="3351703" cy="11793621"/>
            <a:chOff x="0" y="0"/>
            <a:chExt cx="4468938" cy="15724828"/>
          </a:xfrm>
        </p:grpSpPr>
        <p:sp>
          <p:nvSpPr>
            <p:cNvPr name="Freeform 9" id="9"/>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Freeform 14" id="14"/>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9"/>
            <a:stretch>
              <a:fillRect l="0" t="0" r="0" b="0"/>
            </a:stretch>
          </a:blipFill>
        </p:spPr>
      </p:sp>
      <p:sp>
        <p:nvSpPr>
          <p:cNvPr name="Freeform 15" id="15"/>
          <p:cNvSpPr/>
          <p:nvPr/>
        </p:nvSpPr>
        <p:spPr>
          <a:xfrm flipH="false" flipV="false" rot="0">
            <a:off x="2969087" y="2955587"/>
            <a:ext cx="12271711" cy="4451834"/>
          </a:xfrm>
          <a:custGeom>
            <a:avLst/>
            <a:gdLst/>
            <a:ahLst/>
            <a:cxnLst/>
            <a:rect r="r" b="b" t="t" l="l"/>
            <a:pathLst>
              <a:path h="4451834" w="12271711">
                <a:moveTo>
                  <a:pt x="0" y="0"/>
                </a:moveTo>
                <a:lnTo>
                  <a:pt x="12271711" y="0"/>
                </a:lnTo>
                <a:lnTo>
                  <a:pt x="12271711" y="4451835"/>
                </a:lnTo>
                <a:lnTo>
                  <a:pt x="0" y="4451835"/>
                </a:lnTo>
                <a:lnTo>
                  <a:pt x="0" y="0"/>
                </a:lnTo>
                <a:close/>
              </a:path>
            </a:pathLst>
          </a:custGeom>
          <a:blipFill>
            <a:blip r:embed="rId10"/>
            <a:stretch>
              <a:fillRect l="-1318" t="0" r="-1318" b="0"/>
            </a:stretch>
          </a:blipFill>
        </p:spPr>
      </p:sp>
      <p:sp>
        <p:nvSpPr>
          <p:cNvPr name="Freeform 16" id="16"/>
          <p:cNvSpPr/>
          <p:nvPr/>
        </p:nvSpPr>
        <p:spPr>
          <a:xfrm flipH="false" flipV="false" rot="0">
            <a:off x="4208641" y="7655072"/>
            <a:ext cx="10328394" cy="2427832"/>
          </a:xfrm>
          <a:custGeom>
            <a:avLst/>
            <a:gdLst/>
            <a:ahLst/>
            <a:cxnLst/>
            <a:rect r="r" b="b" t="t" l="l"/>
            <a:pathLst>
              <a:path h="2427832" w="10328394">
                <a:moveTo>
                  <a:pt x="0" y="0"/>
                </a:moveTo>
                <a:lnTo>
                  <a:pt x="10328394" y="0"/>
                </a:lnTo>
                <a:lnTo>
                  <a:pt x="10328394" y="2427832"/>
                </a:lnTo>
                <a:lnTo>
                  <a:pt x="0" y="2427832"/>
                </a:lnTo>
                <a:lnTo>
                  <a:pt x="0" y="0"/>
                </a:lnTo>
                <a:close/>
              </a:path>
            </a:pathLst>
          </a:custGeom>
          <a:blipFill>
            <a:blip r:embed="rId11"/>
            <a:stretch>
              <a:fillRect l="0" t="-55285"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798354" y="3274416"/>
            <a:ext cx="466091" cy="466091"/>
          </a:xfrm>
          <a:custGeom>
            <a:avLst/>
            <a:gdLst/>
            <a:ahLst/>
            <a:cxnLst/>
            <a:rect r="r" b="b" t="t" l="l"/>
            <a:pathLst>
              <a:path h="466091" w="466091">
                <a:moveTo>
                  <a:pt x="0" y="0"/>
                </a:moveTo>
                <a:lnTo>
                  <a:pt x="466090" y="0"/>
                </a:lnTo>
                <a:lnTo>
                  <a:pt x="466090"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812958" y="5058375"/>
            <a:ext cx="466091" cy="466091"/>
          </a:xfrm>
          <a:custGeom>
            <a:avLst/>
            <a:gdLst/>
            <a:ahLst/>
            <a:cxnLst/>
            <a:rect r="r" b="b" t="t" l="l"/>
            <a:pathLst>
              <a:path h="466091" w="466091">
                <a:moveTo>
                  <a:pt x="0" y="0"/>
                </a:moveTo>
                <a:lnTo>
                  <a:pt x="466091" y="0"/>
                </a:lnTo>
                <a:lnTo>
                  <a:pt x="466091"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625509" y="214292"/>
            <a:ext cx="12958867" cy="2023649"/>
          </a:xfrm>
          <a:prstGeom prst="rect">
            <a:avLst/>
          </a:prstGeom>
        </p:spPr>
        <p:txBody>
          <a:bodyPr anchor="t" rtlCol="false" tIns="0" lIns="0" bIns="0" rIns="0">
            <a:spAutoFit/>
          </a:bodyPr>
          <a:lstStyle/>
          <a:p>
            <a:pPr algn="ctr">
              <a:lnSpc>
                <a:spcPts val="8160"/>
              </a:lnSpc>
              <a:spcBef>
                <a:spcPct val="0"/>
              </a:spcBef>
            </a:pPr>
            <a:r>
              <a:rPr lang="en-US" b="true" sz="5828">
                <a:solidFill>
                  <a:srgbClr val="205E01"/>
                </a:solidFill>
                <a:latin typeface="TT Firs Neue Bold"/>
                <a:ea typeface="TT Firs Neue Bold"/>
                <a:cs typeface="TT Firs Neue Bold"/>
                <a:sym typeface="TT Firs Neue Bold"/>
              </a:rPr>
              <a:t>Identify the most common pizza size ordered.</a:t>
            </a:r>
          </a:p>
        </p:txBody>
      </p:sp>
      <p:grpSp>
        <p:nvGrpSpPr>
          <p:cNvPr name="Group 7" id="7"/>
          <p:cNvGrpSpPr/>
          <p:nvPr/>
        </p:nvGrpSpPr>
        <p:grpSpPr>
          <a:xfrm rot="0">
            <a:off x="17259300" y="-8974949"/>
            <a:ext cx="3351703" cy="11793621"/>
            <a:chOff x="0" y="0"/>
            <a:chExt cx="4468938" cy="15724828"/>
          </a:xfrm>
        </p:grpSpPr>
        <p:sp>
          <p:nvSpPr>
            <p:cNvPr name="Freeform 8" id="8"/>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3" id="13"/>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8"/>
            <a:stretch>
              <a:fillRect l="0" t="0" r="0" b="0"/>
            </a:stretch>
          </a:blipFill>
        </p:spPr>
      </p:sp>
      <p:sp>
        <p:nvSpPr>
          <p:cNvPr name="Freeform 14" id="14"/>
          <p:cNvSpPr/>
          <p:nvPr/>
        </p:nvSpPr>
        <p:spPr>
          <a:xfrm flipH="false" flipV="false" rot="0">
            <a:off x="123605" y="2237941"/>
            <a:ext cx="9983551" cy="4015368"/>
          </a:xfrm>
          <a:custGeom>
            <a:avLst/>
            <a:gdLst/>
            <a:ahLst/>
            <a:cxnLst/>
            <a:rect r="r" b="b" t="t" l="l"/>
            <a:pathLst>
              <a:path h="4015368" w="9983551">
                <a:moveTo>
                  <a:pt x="0" y="0"/>
                </a:moveTo>
                <a:lnTo>
                  <a:pt x="9983551" y="0"/>
                </a:lnTo>
                <a:lnTo>
                  <a:pt x="9983551" y="4015368"/>
                </a:lnTo>
                <a:lnTo>
                  <a:pt x="0" y="4015368"/>
                </a:lnTo>
                <a:lnTo>
                  <a:pt x="0" y="0"/>
                </a:lnTo>
                <a:close/>
              </a:path>
            </a:pathLst>
          </a:custGeom>
          <a:blipFill>
            <a:blip r:embed="rId9"/>
            <a:stretch>
              <a:fillRect l="-3011" t="-837" r="-1045" b="0"/>
            </a:stretch>
          </a:blipFill>
        </p:spPr>
      </p:sp>
      <p:sp>
        <p:nvSpPr>
          <p:cNvPr name="Freeform 15" id="15"/>
          <p:cNvSpPr/>
          <p:nvPr/>
        </p:nvSpPr>
        <p:spPr>
          <a:xfrm flipH="false" flipV="false" rot="0">
            <a:off x="10262815" y="4688219"/>
            <a:ext cx="7853556" cy="4570081"/>
          </a:xfrm>
          <a:custGeom>
            <a:avLst/>
            <a:gdLst/>
            <a:ahLst/>
            <a:cxnLst/>
            <a:rect r="r" b="b" t="t" l="l"/>
            <a:pathLst>
              <a:path h="4570081" w="7853556">
                <a:moveTo>
                  <a:pt x="0" y="0"/>
                </a:moveTo>
                <a:lnTo>
                  <a:pt x="7853556" y="0"/>
                </a:lnTo>
                <a:lnTo>
                  <a:pt x="7853556" y="4570081"/>
                </a:lnTo>
                <a:lnTo>
                  <a:pt x="0" y="4570081"/>
                </a:lnTo>
                <a:lnTo>
                  <a:pt x="0" y="0"/>
                </a:lnTo>
                <a:close/>
              </a:path>
            </a:pathLst>
          </a:custGeom>
          <a:blipFill>
            <a:blip r:embed="rId10"/>
            <a:stretch>
              <a:fillRect l="0" t="-25932" r="-2185"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798354" y="3274416"/>
            <a:ext cx="466091" cy="466091"/>
          </a:xfrm>
          <a:custGeom>
            <a:avLst/>
            <a:gdLst/>
            <a:ahLst/>
            <a:cxnLst/>
            <a:rect r="r" b="b" t="t" l="l"/>
            <a:pathLst>
              <a:path h="466091" w="466091">
                <a:moveTo>
                  <a:pt x="0" y="0"/>
                </a:moveTo>
                <a:lnTo>
                  <a:pt x="466090" y="0"/>
                </a:lnTo>
                <a:lnTo>
                  <a:pt x="466090"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812958" y="5058375"/>
            <a:ext cx="466091" cy="466091"/>
          </a:xfrm>
          <a:custGeom>
            <a:avLst/>
            <a:gdLst/>
            <a:ahLst/>
            <a:cxnLst/>
            <a:rect r="r" b="b" t="t" l="l"/>
            <a:pathLst>
              <a:path h="466091" w="466091">
                <a:moveTo>
                  <a:pt x="0" y="0"/>
                </a:moveTo>
                <a:lnTo>
                  <a:pt x="466091" y="0"/>
                </a:lnTo>
                <a:lnTo>
                  <a:pt x="466091"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625509" y="214292"/>
            <a:ext cx="12958867" cy="2023649"/>
          </a:xfrm>
          <a:prstGeom prst="rect">
            <a:avLst/>
          </a:prstGeom>
        </p:spPr>
        <p:txBody>
          <a:bodyPr anchor="t" rtlCol="false" tIns="0" lIns="0" bIns="0" rIns="0">
            <a:spAutoFit/>
          </a:bodyPr>
          <a:lstStyle/>
          <a:p>
            <a:pPr algn="ctr">
              <a:lnSpc>
                <a:spcPts val="8160"/>
              </a:lnSpc>
              <a:spcBef>
                <a:spcPct val="0"/>
              </a:spcBef>
            </a:pPr>
            <a:r>
              <a:rPr lang="en-US" b="true" sz="5828">
                <a:solidFill>
                  <a:srgbClr val="205E01"/>
                </a:solidFill>
                <a:latin typeface="TT Firs Neue Bold"/>
                <a:ea typeface="TT Firs Neue Bold"/>
                <a:cs typeface="TT Firs Neue Bold"/>
                <a:sym typeface="TT Firs Neue Bold"/>
              </a:rPr>
              <a:t>List the top 5 most ordered pizza types along with their quantities.</a:t>
            </a:r>
          </a:p>
        </p:txBody>
      </p:sp>
      <p:grpSp>
        <p:nvGrpSpPr>
          <p:cNvPr name="Group 7" id="7"/>
          <p:cNvGrpSpPr/>
          <p:nvPr/>
        </p:nvGrpSpPr>
        <p:grpSpPr>
          <a:xfrm rot="0">
            <a:off x="17259300" y="-8974949"/>
            <a:ext cx="3351703" cy="11793621"/>
            <a:chOff x="0" y="0"/>
            <a:chExt cx="4468938" cy="15724828"/>
          </a:xfrm>
        </p:grpSpPr>
        <p:sp>
          <p:nvSpPr>
            <p:cNvPr name="Freeform 8" id="8"/>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3" id="13"/>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8"/>
            <a:stretch>
              <a:fillRect l="0" t="0" r="0" b="0"/>
            </a:stretch>
          </a:blipFill>
        </p:spPr>
      </p:sp>
      <p:sp>
        <p:nvSpPr>
          <p:cNvPr name="Freeform 14" id="14"/>
          <p:cNvSpPr/>
          <p:nvPr/>
        </p:nvSpPr>
        <p:spPr>
          <a:xfrm flipH="false" flipV="false" rot="0">
            <a:off x="0" y="2549627"/>
            <a:ext cx="10203287" cy="5930607"/>
          </a:xfrm>
          <a:custGeom>
            <a:avLst/>
            <a:gdLst/>
            <a:ahLst/>
            <a:cxnLst/>
            <a:rect r="r" b="b" t="t" l="l"/>
            <a:pathLst>
              <a:path h="5930607" w="10203287">
                <a:moveTo>
                  <a:pt x="0" y="0"/>
                </a:moveTo>
                <a:lnTo>
                  <a:pt x="10203287" y="0"/>
                </a:lnTo>
                <a:lnTo>
                  <a:pt x="10203287" y="5930607"/>
                </a:lnTo>
                <a:lnTo>
                  <a:pt x="0" y="5930607"/>
                </a:lnTo>
                <a:lnTo>
                  <a:pt x="0" y="0"/>
                </a:lnTo>
                <a:close/>
              </a:path>
            </a:pathLst>
          </a:custGeom>
          <a:blipFill>
            <a:blip r:embed="rId9"/>
            <a:stretch>
              <a:fillRect l="-3302" t="0" r="-8338" b="-1195"/>
            </a:stretch>
          </a:blipFill>
        </p:spPr>
      </p:sp>
      <p:sp>
        <p:nvSpPr>
          <p:cNvPr name="Freeform 15" id="15"/>
          <p:cNvSpPr/>
          <p:nvPr/>
        </p:nvSpPr>
        <p:spPr>
          <a:xfrm flipH="false" flipV="false" rot="0">
            <a:off x="10346162" y="3800541"/>
            <a:ext cx="7946111" cy="5559740"/>
          </a:xfrm>
          <a:custGeom>
            <a:avLst/>
            <a:gdLst/>
            <a:ahLst/>
            <a:cxnLst/>
            <a:rect r="r" b="b" t="t" l="l"/>
            <a:pathLst>
              <a:path h="5559740" w="7946111">
                <a:moveTo>
                  <a:pt x="0" y="0"/>
                </a:moveTo>
                <a:lnTo>
                  <a:pt x="7946111" y="0"/>
                </a:lnTo>
                <a:lnTo>
                  <a:pt x="7946111" y="5559740"/>
                </a:lnTo>
                <a:lnTo>
                  <a:pt x="0" y="5559740"/>
                </a:lnTo>
                <a:lnTo>
                  <a:pt x="0" y="0"/>
                </a:lnTo>
                <a:close/>
              </a:path>
            </a:pathLst>
          </a:custGeom>
          <a:blipFill>
            <a:blip r:embed="rId10"/>
            <a:stretch>
              <a:fillRect l="-1953"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798354" y="3274416"/>
            <a:ext cx="466091" cy="466091"/>
          </a:xfrm>
          <a:custGeom>
            <a:avLst/>
            <a:gdLst/>
            <a:ahLst/>
            <a:cxnLst/>
            <a:rect r="r" b="b" t="t" l="l"/>
            <a:pathLst>
              <a:path h="466091" w="466091">
                <a:moveTo>
                  <a:pt x="0" y="0"/>
                </a:moveTo>
                <a:lnTo>
                  <a:pt x="466090" y="0"/>
                </a:lnTo>
                <a:lnTo>
                  <a:pt x="466090"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812958" y="5058375"/>
            <a:ext cx="466091" cy="466091"/>
          </a:xfrm>
          <a:custGeom>
            <a:avLst/>
            <a:gdLst/>
            <a:ahLst/>
            <a:cxnLst/>
            <a:rect r="r" b="b" t="t" l="l"/>
            <a:pathLst>
              <a:path h="466091" w="466091">
                <a:moveTo>
                  <a:pt x="0" y="0"/>
                </a:moveTo>
                <a:lnTo>
                  <a:pt x="466091" y="0"/>
                </a:lnTo>
                <a:lnTo>
                  <a:pt x="466091"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7259300" y="-8974949"/>
            <a:ext cx="3351703" cy="11793621"/>
            <a:chOff x="0" y="0"/>
            <a:chExt cx="4468938" cy="15724828"/>
          </a:xfrm>
        </p:grpSpPr>
        <p:sp>
          <p:nvSpPr>
            <p:cNvPr name="Freeform 7" id="7"/>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2" id="12"/>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8"/>
            <a:stretch>
              <a:fillRect l="0" t="0" r="0" b="0"/>
            </a:stretch>
          </a:blipFill>
        </p:spPr>
      </p:sp>
      <p:sp>
        <p:nvSpPr>
          <p:cNvPr name="Freeform 13" id="13"/>
          <p:cNvSpPr/>
          <p:nvPr/>
        </p:nvSpPr>
        <p:spPr>
          <a:xfrm flipH="false" flipV="false" rot="0">
            <a:off x="10650209" y="3274416"/>
            <a:ext cx="7580423" cy="5359960"/>
          </a:xfrm>
          <a:custGeom>
            <a:avLst/>
            <a:gdLst/>
            <a:ahLst/>
            <a:cxnLst/>
            <a:rect r="r" b="b" t="t" l="l"/>
            <a:pathLst>
              <a:path h="5359960" w="7580423">
                <a:moveTo>
                  <a:pt x="0" y="0"/>
                </a:moveTo>
                <a:lnTo>
                  <a:pt x="7580422" y="0"/>
                </a:lnTo>
                <a:lnTo>
                  <a:pt x="7580422" y="5359960"/>
                </a:lnTo>
                <a:lnTo>
                  <a:pt x="0" y="5359960"/>
                </a:lnTo>
                <a:lnTo>
                  <a:pt x="0" y="0"/>
                </a:lnTo>
                <a:close/>
              </a:path>
            </a:pathLst>
          </a:custGeom>
          <a:blipFill>
            <a:blip r:embed="rId9"/>
            <a:stretch>
              <a:fillRect l="-5230" t="0" r="-5494" b="-2846"/>
            </a:stretch>
          </a:blipFill>
        </p:spPr>
      </p:sp>
      <p:sp>
        <p:nvSpPr>
          <p:cNvPr name="Freeform 14" id="14"/>
          <p:cNvSpPr/>
          <p:nvPr/>
        </p:nvSpPr>
        <p:spPr>
          <a:xfrm flipH="false" flipV="false" rot="0">
            <a:off x="155566" y="3750032"/>
            <a:ext cx="10342243" cy="4694333"/>
          </a:xfrm>
          <a:custGeom>
            <a:avLst/>
            <a:gdLst/>
            <a:ahLst/>
            <a:cxnLst/>
            <a:rect r="r" b="b" t="t" l="l"/>
            <a:pathLst>
              <a:path h="4694333" w="10342243">
                <a:moveTo>
                  <a:pt x="0" y="0"/>
                </a:moveTo>
                <a:lnTo>
                  <a:pt x="10342243" y="0"/>
                </a:lnTo>
                <a:lnTo>
                  <a:pt x="10342243" y="4694333"/>
                </a:lnTo>
                <a:lnTo>
                  <a:pt x="0" y="4694333"/>
                </a:lnTo>
                <a:lnTo>
                  <a:pt x="0" y="0"/>
                </a:lnTo>
                <a:close/>
              </a:path>
            </a:pathLst>
          </a:custGeom>
          <a:blipFill>
            <a:blip r:embed="rId10"/>
            <a:stretch>
              <a:fillRect l="-1718" t="0" r="-3193" b="0"/>
            </a:stretch>
          </a:blipFill>
        </p:spPr>
      </p:sp>
      <p:sp>
        <p:nvSpPr>
          <p:cNvPr name="TextBox 15" id="15"/>
          <p:cNvSpPr txBox="true"/>
          <p:nvPr/>
        </p:nvSpPr>
        <p:spPr>
          <a:xfrm rot="0">
            <a:off x="2625509" y="214292"/>
            <a:ext cx="12958867" cy="3052349"/>
          </a:xfrm>
          <a:prstGeom prst="rect">
            <a:avLst/>
          </a:prstGeom>
        </p:spPr>
        <p:txBody>
          <a:bodyPr anchor="t" rtlCol="false" tIns="0" lIns="0" bIns="0" rIns="0">
            <a:spAutoFit/>
          </a:bodyPr>
          <a:lstStyle/>
          <a:p>
            <a:pPr algn="ctr">
              <a:lnSpc>
                <a:spcPts val="8160"/>
              </a:lnSpc>
              <a:spcBef>
                <a:spcPct val="0"/>
              </a:spcBef>
            </a:pPr>
            <a:r>
              <a:rPr lang="en-US" b="true" sz="5828">
                <a:solidFill>
                  <a:srgbClr val="205E01"/>
                </a:solidFill>
                <a:latin typeface="TT Firs Neue Bold"/>
                <a:ea typeface="TT Firs Neue Bold"/>
                <a:cs typeface="TT Firs Neue Bold"/>
                <a:sym typeface="TT Firs Neue Bold"/>
              </a:rPr>
              <a:t>Join the necessary tables to find the total quantity of each pizza category ordered.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798354" y="3274416"/>
            <a:ext cx="466091" cy="466091"/>
          </a:xfrm>
          <a:custGeom>
            <a:avLst/>
            <a:gdLst/>
            <a:ahLst/>
            <a:cxnLst/>
            <a:rect r="r" b="b" t="t" l="l"/>
            <a:pathLst>
              <a:path h="466091" w="466091">
                <a:moveTo>
                  <a:pt x="0" y="0"/>
                </a:moveTo>
                <a:lnTo>
                  <a:pt x="466090" y="0"/>
                </a:lnTo>
                <a:lnTo>
                  <a:pt x="466090"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7259300" y="-8974949"/>
            <a:ext cx="3351703" cy="11793621"/>
            <a:chOff x="0" y="0"/>
            <a:chExt cx="4468938" cy="15724828"/>
          </a:xfrm>
        </p:grpSpPr>
        <p:sp>
          <p:nvSpPr>
            <p:cNvPr name="Freeform 6" id="6"/>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1" id="11"/>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8"/>
            <a:stretch>
              <a:fillRect l="0" t="0" r="0" b="0"/>
            </a:stretch>
          </a:blipFill>
        </p:spPr>
      </p:sp>
      <p:sp>
        <p:nvSpPr>
          <p:cNvPr name="Freeform 12" id="12"/>
          <p:cNvSpPr/>
          <p:nvPr/>
        </p:nvSpPr>
        <p:spPr>
          <a:xfrm flipH="false" flipV="false" rot="0">
            <a:off x="518480" y="3274416"/>
            <a:ext cx="9762414" cy="2223000"/>
          </a:xfrm>
          <a:custGeom>
            <a:avLst/>
            <a:gdLst/>
            <a:ahLst/>
            <a:cxnLst/>
            <a:rect r="r" b="b" t="t" l="l"/>
            <a:pathLst>
              <a:path h="2223000" w="9762414">
                <a:moveTo>
                  <a:pt x="0" y="0"/>
                </a:moveTo>
                <a:lnTo>
                  <a:pt x="9762415" y="0"/>
                </a:lnTo>
                <a:lnTo>
                  <a:pt x="9762415" y="2223000"/>
                </a:lnTo>
                <a:lnTo>
                  <a:pt x="0" y="2223000"/>
                </a:lnTo>
                <a:lnTo>
                  <a:pt x="0" y="0"/>
                </a:lnTo>
                <a:close/>
              </a:path>
            </a:pathLst>
          </a:custGeom>
          <a:blipFill>
            <a:blip r:embed="rId9"/>
            <a:stretch>
              <a:fillRect l="0" t="0" r="0" b="-1280"/>
            </a:stretch>
          </a:blipFill>
        </p:spPr>
      </p:sp>
      <p:sp>
        <p:nvSpPr>
          <p:cNvPr name="Freeform 13" id="13"/>
          <p:cNvSpPr/>
          <p:nvPr/>
        </p:nvSpPr>
        <p:spPr>
          <a:xfrm flipH="false" flipV="false" rot="0">
            <a:off x="11654810" y="4317883"/>
            <a:ext cx="2704120" cy="5798256"/>
          </a:xfrm>
          <a:custGeom>
            <a:avLst/>
            <a:gdLst/>
            <a:ahLst/>
            <a:cxnLst/>
            <a:rect r="r" b="b" t="t" l="l"/>
            <a:pathLst>
              <a:path h="5798256" w="2704120">
                <a:moveTo>
                  <a:pt x="0" y="0"/>
                </a:moveTo>
                <a:lnTo>
                  <a:pt x="2704119" y="0"/>
                </a:lnTo>
                <a:lnTo>
                  <a:pt x="2704119" y="5798256"/>
                </a:lnTo>
                <a:lnTo>
                  <a:pt x="0" y="5798256"/>
                </a:lnTo>
                <a:lnTo>
                  <a:pt x="0" y="0"/>
                </a:lnTo>
                <a:close/>
              </a:path>
            </a:pathLst>
          </a:custGeom>
          <a:blipFill>
            <a:blip r:embed="rId10"/>
            <a:stretch>
              <a:fillRect l="0" t="0" r="0" b="0"/>
            </a:stretch>
          </a:blipFill>
        </p:spPr>
      </p:sp>
      <p:sp>
        <p:nvSpPr>
          <p:cNvPr name="TextBox 14" id="14"/>
          <p:cNvSpPr txBox="true"/>
          <p:nvPr/>
        </p:nvSpPr>
        <p:spPr>
          <a:xfrm rot="0">
            <a:off x="2625509" y="214292"/>
            <a:ext cx="12958867" cy="2023649"/>
          </a:xfrm>
          <a:prstGeom prst="rect">
            <a:avLst/>
          </a:prstGeom>
        </p:spPr>
        <p:txBody>
          <a:bodyPr anchor="t" rtlCol="false" tIns="0" lIns="0" bIns="0" rIns="0">
            <a:spAutoFit/>
          </a:bodyPr>
          <a:lstStyle/>
          <a:p>
            <a:pPr algn="ctr">
              <a:lnSpc>
                <a:spcPts val="8160"/>
              </a:lnSpc>
              <a:spcBef>
                <a:spcPct val="0"/>
              </a:spcBef>
            </a:pPr>
            <a:r>
              <a:rPr lang="en-US" b="true" sz="5828">
                <a:solidFill>
                  <a:srgbClr val="205E01"/>
                </a:solidFill>
                <a:latin typeface="TT Firs Neue Bold"/>
                <a:ea typeface="TT Firs Neue Bold"/>
                <a:cs typeface="TT Firs Neue Bold"/>
                <a:sym typeface="TT Firs Neue Bold"/>
              </a:rPr>
              <a:t>Determine the distribution of orders by hour of the day.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798354" y="3274416"/>
            <a:ext cx="466091" cy="466091"/>
          </a:xfrm>
          <a:custGeom>
            <a:avLst/>
            <a:gdLst/>
            <a:ahLst/>
            <a:cxnLst/>
            <a:rect r="r" b="b" t="t" l="l"/>
            <a:pathLst>
              <a:path h="466091" w="466091">
                <a:moveTo>
                  <a:pt x="0" y="0"/>
                </a:moveTo>
                <a:lnTo>
                  <a:pt x="466090" y="0"/>
                </a:lnTo>
                <a:lnTo>
                  <a:pt x="466090" y="466091"/>
                </a:lnTo>
                <a:lnTo>
                  <a:pt x="0" y="466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7259300" y="-8974949"/>
            <a:ext cx="3351703" cy="11793621"/>
            <a:chOff x="0" y="0"/>
            <a:chExt cx="4468938" cy="15724828"/>
          </a:xfrm>
        </p:grpSpPr>
        <p:sp>
          <p:nvSpPr>
            <p:cNvPr name="Freeform 6" id="6"/>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1" id="11"/>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8"/>
            <a:stretch>
              <a:fillRect l="0" t="0" r="0" b="0"/>
            </a:stretch>
          </a:blipFill>
        </p:spPr>
      </p:sp>
      <p:sp>
        <p:nvSpPr>
          <p:cNvPr name="Freeform 12" id="12"/>
          <p:cNvSpPr/>
          <p:nvPr/>
        </p:nvSpPr>
        <p:spPr>
          <a:xfrm flipH="false" flipV="false" rot="0">
            <a:off x="150192" y="3266641"/>
            <a:ext cx="11725884" cy="5073164"/>
          </a:xfrm>
          <a:custGeom>
            <a:avLst/>
            <a:gdLst/>
            <a:ahLst/>
            <a:cxnLst/>
            <a:rect r="r" b="b" t="t" l="l"/>
            <a:pathLst>
              <a:path h="5073164" w="11725884">
                <a:moveTo>
                  <a:pt x="0" y="0"/>
                </a:moveTo>
                <a:lnTo>
                  <a:pt x="11725884" y="0"/>
                </a:lnTo>
                <a:lnTo>
                  <a:pt x="11725884" y="5073164"/>
                </a:lnTo>
                <a:lnTo>
                  <a:pt x="0" y="5073164"/>
                </a:lnTo>
                <a:lnTo>
                  <a:pt x="0" y="0"/>
                </a:lnTo>
                <a:close/>
              </a:path>
            </a:pathLst>
          </a:custGeom>
          <a:blipFill>
            <a:blip r:embed="rId9"/>
            <a:stretch>
              <a:fillRect l="0" t="0" r="0" b="0"/>
            </a:stretch>
          </a:blipFill>
        </p:spPr>
      </p:sp>
      <p:sp>
        <p:nvSpPr>
          <p:cNvPr name="Freeform 13" id="13"/>
          <p:cNvSpPr/>
          <p:nvPr/>
        </p:nvSpPr>
        <p:spPr>
          <a:xfrm flipH="false" flipV="false" rot="0">
            <a:off x="12313504" y="6275214"/>
            <a:ext cx="5545453" cy="3642063"/>
          </a:xfrm>
          <a:custGeom>
            <a:avLst/>
            <a:gdLst/>
            <a:ahLst/>
            <a:cxnLst/>
            <a:rect r="r" b="b" t="t" l="l"/>
            <a:pathLst>
              <a:path h="3642063" w="5545453">
                <a:moveTo>
                  <a:pt x="0" y="0"/>
                </a:moveTo>
                <a:lnTo>
                  <a:pt x="5545453" y="0"/>
                </a:lnTo>
                <a:lnTo>
                  <a:pt x="5545453" y="3642064"/>
                </a:lnTo>
                <a:lnTo>
                  <a:pt x="0" y="3642064"/>
                </a:lnTo>
                <a:lnTo>
                  <a:pt x="0" y="0"/>
                </a:lnTo>
                <a:close/>
              </a:path>
            </a:pathLst>
          </a:custGeom>
          <a:blipFill>
            <a:blip r:embed="rId10"/>
            <a:stretch>
              <a:fillRect l="0" t="0" r="0" b="0"/>
            </a:stretch>
          </a:blipFill>
        </p:spPr>
      </p:sp>
      <p:sp>
        <p:nvSpPr>
          <p:cNvPr name="TextBox 14" id="14"/>
          <p:cNvSpPr txBox="true"/>
          <p:nvPr/>
        </p:nvSpPr>
        <p:spPr>
          <a:xfrm rot="0">
            <a:off x="2625509" y="214292"/>
            <a:ext cx="12958867" cy="3052349"/>
          </a:xfrm>
          <a:prstGeom prst="rect">
            <a:avLst/>
          </a:prstGeom>
        </p:spPr>
        <p:txBody>
          <a:bodyPr anchor="t" rtlCol="false" tIns="0" lIns="0" bIns="0" rIns="0">
            <a:spAutoFit/>
          </a:bodyPr>
          <a:lstStyle/>
          <a:p>
            <a:pPr algn="ctr">
              <a:lnSpc>
                <a:spcPts val="8160"/>
              </a:lnSpc>
              <a:spcBef>
                <a:spcPct val="0"/>
              </a:spcBef>
            </a:pPr>
            <a:r>
              <a:rPr lang="en-US" b="true" sz="5828">
                <a:solidFill>
                  <a:srgbClr val="205E01"/>
                </a:solidFill>
                <a:latin typeface="TT Firs Neue Bold"/>
                <a:ea typeface="TT Firs Neue Bold"/>
                <a:cs typeface="TT Firs Neue Bold"/>
                <a:sym typeface="TT Firs Neue Bold"/>
              </a:rPr>
              <a:t>Join relevant tables to find the category-wise distribution of pizzas.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7259300" y="-8974949"/>
            <a:ext cx="3351703" cy="11793621"/>
            <a:chOff x="0" y="0"/>
            <a:chExt cx="4468938" cy="15724828"/>
          </a:xfrm>
        </p:grpSpPr>
        <p:sp>
          <p:nvSpPr>
            <p:cNvPr name="Freeform 5" id="5"/>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0" id="10"/>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8"/>
            <a:stretch>
              <a:fillRect l="0" t="0" r="0" b="0"/>
            </a:stretch>
          </a:blipFill>
        </p:spPr>
      </p:sp>
      <p:sp>
        <p:nvSpPr>
          <p:cNvPr name="Freeform 11" id="11"/>
          <p:cNvSpPr/>
          <p:nvPr/>
        </p:nvSpPr>
        <p:spPr>
          <a:xfrm flipH="false" flipV="false" rot="0">
            <a:off x="2764409" y="3266641"/>
            <a:ext cx="11064121" cy="4170588"/>
          </a:xfrm>
          <a:custGeom>
            <a:avLst/>
            <a:gdLst/>
            <a:ahLst/>
            <a:cxnLst/>
            <a:rect r="r" b="b" t="t" l="l"/>
            <a:pathLst>
              <a:path h="4170588" w="11064121">
                <a:moveTo>
                  <a:pt x="0" y="0"/>
                </a:moveTo>
                <a:lnTo>
                  <a:pt x="11064121" y="0"/>
                </a:lnTo>
                <a:lnTo>
                  <a:pt x="11064121" y="4170588"/>
                </a:lnTo>
                <a:lnTo>
                  <a:pt x="0" y="4170588"/>
                </a:lnTo>
                <a:lnTo>
                  <a:pt x="0" y="0"/>
                </a:lnTo>
                <a:close/>
              </a:path>
            </a:pathLst>
          </a:custGeom>
          <a:blipFill>
            <a:blip r:embed="rId9"/>
            <a:stretch>
              <a:fillRect l="0" t="0" r="0" b="0"/>
            </a:stretch>
          </a:blipFill>
        </p:spPr>
      </p:sp>
      <p:sp>
        <p:nvSpPr>
          <p:cNvPr name="Freeform 12" id="12"/>
          <p:cNvSpPr/>
          <p:nvPr/>
        </p:nvSpPr>
        <p:spPr>
          <a:xfrm flipH="false" flipV="false" rot="0">
            <a:off x="5818995" y="7608361"/>
            <a:ext cx="4583673" cy="2381640"/>
          </a:xfrm>
          <a:custGeom>
            <a:avLst/>
            <a:gdLst/>
            <a:ahLst/>
            <a:cxnLst/>
            <a:rect r="r" b="b" t="t" l="l"/>
            <a:pathLst>
              <a:path h="2381640" w="4583673">
                <a:moveTo>
                  <a:pt x="0" y="0"/>
                </a:moveTo>
                <a:lnTo>
                  <a:pt x="4583674" y="0"/>
                </a:lnTo>
                <a:lnTo>
                  <a:pt x="4583674" y="2381640"/>
                </a:lnTo>
                <a:lnTo>
                  <a:pt x="0" y="2381640"/>
                </a:lnTo>
                <a:lnTo>
                  <a:pt x="0" y="0"/>
                </a:lnTo>
                <a:close/>
              </a:path>
            </a:pathLst>
          </a:custGeom>
          <a:blipFill>
            <a:blip r:embed="rId10"/>
            <a:stretch>
              <a:fillRect l="0" t="-2391" r="0" b="0"/>
            </a:stretch>
          </a:blipFill>
        </p:spPr>
      </p:sp>
      <p:sp>
        <p:nvSpPr>
          <p:cNvPr name="TextBox 13" id="13"/>
          <p:cNvSpPr txBox="true"/>
          <p:nvPr/>
        </p:nvSpPr>
        <p:spPr>
          <a:xfrm rot="0">
            <a:off x="2625509" y="214292"/>
            <a:ext cx="12958867" cy="3052349"/>
          </a:xfrm>
          <a:prstGeom prst="rect">
            <a:avLst/>
          </a:prstGeom>
        </p:spPr>
        <p:txBody>
          <a:bodyPr anchor="t" rtlCol="false" tIns="0" lIns="0" bIns="0" rIns="0">
            <a:spAutoFit/>
          </a:bodyPr>
          <a:lstStyle/>
          <a:p>
            <a:pPr algn="ctr">
              <a:lnSpc>
                <a:spcPts val="8160"/>
              </a:lnSpc>
              <a:spcBef>
                <a:spcPct val="0"/>
              </a:spcBef>
            </a:pPr>
            <a:r>
              <a:rPr lang="en-US" b="true" sz="5828">
                <a:solidFill>
                  <a:srgbClr val="205E01"/>
                </a:solidFill>
                <a:latin typeface="TT Firs Neue Bold"/>
                <a:ea typeface="TT Firs Neue Bold"/>
                <a:cs typeface="TT Firs Neue Bold"/>
                <a:sym typeface="TT Firs Neue Bold"/>
              </a:rPr>
              <a:t>Group the orders by date and calculate the average number of pizzas ordered per day.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7259300" y="-8974949"/>
            <a:ext cx="3351703" cy="11793621"/>
            <a:chOff x="0" y="0"/>
            <a:chExt cx="4468938" cy="15724828"/>
          </a:xfrm>
        </p:grpSpPr>
        <p:sp>
          <p:nvSpPr>
            <p:cNvPr name="Freeform 5" id="5"/>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0" id="10"/>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8"/>
            <a:stretch>
              <a:fillRect l="0" t="0" r="0" b="0"/>
            </a:stretch>
          </a:blipFill>
        </p:spPr>
      </p:sp>
      <p:sp>
        <p:nvSpPr>
          <p:cNvPr name="Freeform 11" id="11"/>
          <p:cNvSpPr/>
          <p:nvPr/>
        </p:nvSpPr>
        <p:spPr>
          <a:xfrm flipH="false" flipV="false" rot="0">
            <a:off x="320402" y="2818672"/>
            <a:ext cx="17655468" cy="3442816"/>
          </a:xfrm>
          <a:custGeom>
            <a:avLst/>
            <a:gdLst/>
            <a:ahLst/>
            <a:cxnLst/>
            <a:rect r="r" b="b" t="t" l="l"/>
            <a:pathLst>
              <a:path h="3442816" w="17655468">
                <a:moveTo>
                  <a:pt x="0" y="0"/>
                </a:moveTo>
                <a:lnTo>
                  <a:pt x="17655468" y="0"/>
                </a:lnTo>
                <a:lnTo>
                  <a:pt x="17655468" y="3442816"/>
                </a:lnTo>
                <a:lnTo>
                  <a:pt x="0" y="3442816"/>
                </a:lnTo>
                <a:lnTo>
                  <a:pt x="0" y="0"/>
                </a:lnTo>
                <a:close/>
              </a:path>
            </a:pathLst>
          </a:custGeom>
          <a:blipFill>
            <a:blip r:embed="rId9"/>
            <a:stretch>
              <a:fillRect l="0" t="0" r="0" b="0"/>
            </a:stretch>
          </a:blipFill>
        </p:spPr>
      </p:sp>
      <p:sp>
        <p:nvSpPr>
          <p:cNvPr name="Freeform 12" id="12"/>
          <p:cNvSpPr/>
          <p:nvPr/>
        </p:nvSpPr>
        <p:spPr>
          <a:xfrm flipH="false" flipV="false" rot="0">
            <a:off x="4311542" y="6467290"/>
            <a:ext cx="7435334" cy="3667564"/>
          </a:xfrm>
          <a:custGeom>
            <a:avLst/>
            <a:gdLst/>
            <a:ahLst/>
            <a:cxnLst/>
            <a:rect r="r" b="b" t="t" l="l"/>
            <a:pathLst>
              <a:path h="3667564" w="7435334">
                <a:moveTo>
                  <a:pt x="0" y="0"/>
                </a:moveTo>
                <a:lnTo>
                  <a:pt x="7435334" y="0"/>
                </a:lnTo>
                <a:lnTo>
                  <a:pt x="7435334" y="3667564"/>
                </a:lnTo>
                <a:lnTo>
                  <a:pt x="0" y="3667564"/>
                </a:lnTo>
                <a:lnTo>
                  <a:pt x="0" y="0"/>
                </a:lnTo>
                <a:close/>
              </a:path>
            </a:pathLst>
          </a:custGeom>
          <a:blipFill>
            <a:blip r:embed="rId10"/>
            <a:stretch>
              <a:fillRect l="0" t="0" r="0" b="0"/>
            </a:stretch>
          </a:blipFill>
        </p:spPr>
      </p:sp>
      <p:sp>
        <p:nvSpPr>
          <p:cNvPr name="TextBox 13" id="13"/>
          <p:cNvSpPr txBox="true"/>
          <p:nvPr/>
        </p:nvSpPr>
        <p:spPr>
          <a:xfrm rot="0">
            <a:off x="2625509" y="214292"/>
            <a:ext cx="12958867" cy="2023649"/>
          </a:xfrm>
          <a:prstGeom prst="rect">
            <a:avLst/>
          </a:prstGeom>
        </p:spPr>
        <p:txBody>
          <a:bodyPr anchor="t" rtlCol="false" tIns="0" lIns="0" bIns="0" rIns="0">
            <a:spAutoFit/>
          </a:bodyPr>
          <a:lstStyle/>
          <a:p>
            <a:pPr algn="ctr">
              <a:lnSpc>
                <a:spcPts val="8160"/>
              </a:lnSpc>
              <a:spcBef>
                <a:spcPct val="0"/>
              </a:spcBef>
            </a:pPr>
            <a:r>
              <a:rPr lang="en-US" b="true" sz="5828">
                <a:solidFill>
                  <a:srgbClr val="205E01"/>
                </a:solidFill>
                <a:latin typeface="TT Firs Neue Bold"/>
                <a:ea typeface="TT Firs Neue Bold"/>
                <a:cs typeface="TT Firs Neue Bold"/>
                <a:sym typeface="TT Firs Neue Bold"/>
              </a:rPr>
              <a:t>Determine the top 3 most ordered pizza types based on revenue.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7259300" y="-8974949"/>
            <a:ext cx="3351703" cy="11793621"/>
            <a:chOff x="0" y="0"/>
            <a:chExt cx="4468938" cy="15724828"/>
          </a:xfrm>
        </p:grpSpPr>
        <p:sp>
          <p:nvSpPr>
            <p:cNvPr name="Freeform 5" id="5"/>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0" id="10"/>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8"/>
            <a:stretch>
              <a:fillRect l="0" t="0" r="0" b="0"/>
            </a:stretch>
          </a:blipFill>
        </p:spPr>
      </p:sp>
      <p:sp>
        <p:nvSpPr>
          <p:cNvPr name="Freeform 11" id="11"/>
          <p:cNvSpPr/>
          <p:nvPr/>
        </p:nvSpPr>
        <p:spPr>
          <a:xfrm flipH="false" flipV="false" rot="0">
            <a:off x="156153" y="3442828"/>
            <a:ext cx="13039394" cy="4555638"/>
          </a:xfrm>
          <a:custGeom>
            <a:avLst/>
            <a:gdLst/>
            <a:ahLst/>
            <a:cxnLst/>
            <a:rect r="r" b="b" t="t" l="l"/>
            <a:pathLst>
              <a:path h="4555638" w="13039394">
                <a:moveTo>
                  <a:pt x="0" y="0"/>
                </a:moveTo>
                <a:lnTo>
                  <a:pt x="13039394" y="0"/>
                </a:lnTo>
                <a:lnTo>
                  <a:pt x="13039394" y="4555639"/>
                </a:lnTo>
                <a:lnTo>
                  <a:pt x="0" y="4555639"/>
                </a:lnTo>
                <a:lnTo>
                  <a:pt x="0" y="0"/>
                </a:lnTo>
                <a:close/>
              </a:path>
            </a:pathLst>
          </a:custGeom>
          <a:blipFill>
            <a:blip r:embed="rId9"/>
            <a:stretch>
              <a:fillRect l="0" t="0" r="0" b="0"/>
            </a:stretch>
          </a:blipFill>
        </p:spPr>
      </p:sp>
      <p:sp>
        <p:nvSpPr>
          <p:cNvPr name="Freeform 12" id="12"/>
          <p:cNvSpPr/>
          <p:nvPr/>
        </p:nvSpPr>
        <p:spPr>
          <a:xfrm flipH="false" flipV="false" rot="0">
            <a:off x="13556402" y="6948317"/>
            <a:ext cx="4404013" cy="2970492"/>
          </a:xfrm>
          <a:custGeom>
            <a:avLst/>
            <a:gdLst/>
            <a:ahLst/>
            <a:cxnLst/>
            <a:rect r="r" b="b" t="t" l="l"/>
            <a:pathLst>
              <a:path h="2970492" w="4404013">
                <a:moveTo>
                  <a:pt x="0" y="0"/>
                </a:moveTo>
                <a:lnTo>
                  <a:pt x="4404012" y="0"/>
                </a:lnTo>
                <a:lnTo>
                  <a:pt x="4404012" y="2970491"/>
                </a:lnTo>
                <a:lnTo>
                  <a:pt x="0" y="2970491"/>
                </a:lnTo>
                <a:lnTo>
                  <a:pt x="0" y="0"/>
                </a:lnTo>
                <a:close/>
              </a:path>
            </a:pathLst>
          </a:custGeom>
          <a:blipFill>
            <a:blip r:embed="rId10"/>
            <a:stretch>
              <a:fillRect l="0" t="0" r="0" b="0"/>
            </a:stretch>
          </a:blipFill>
        </p:spPr>
      </p:sp>
      <p:sp>
        <p:nvSpPr>
          <p:cNvPr name="TextBox 13" id="13"/>
          <p:cNvSpPr txBox="true"/>
          <p:nvPr/>
        </p:nvSpPr>
        <p:spPr>
          <a:xfrm rot="0">
            <a:off x="2625509" y="214292"/>
            <a:ext cx="12958867" cy="3052349"/>
          </a:xfrm>
          <a:prstGeom prst="rect">
            <a:avLst/>
          </a:prstGeom>
        </p:spPr>
        <p:txBody>
          <a:bodyPr anchor="t" rtlCol="false" tIns="0" lIns="0" bIns="0" rIns="0">
            <a:spAutoFit/>
          </a:bodyPr>
          <a:lstStyle/>
          <a:p>
            <a:pPr algn="ctr">
              <a:lnSpc>
                <a:spcPts val="8160"/>
              </a:lnSpc>
              <a:spcBef>
                <a:spcPct val="0"/>
              </a:spcBef>
            </a:pPr>
            <a:r>
              <a:rPr lang="en-US" b="true" sz="5828">
                <a:solidFill>
                  <a:srgbClr val="205E01"/>
                </a:solidFill>
                <a:latin typeface="TT Firs Neue Bold"/>
                <a:ea typeface="TT Firs Neue Bold"/>
                <a:cs typeface="TT Firs Neue Bold"/>
                <a:sym typeface="TT Firs Neue Bold"/>
              </a:rPr>
              <a:t>Calculate the percentage contribution of each pizza type to total revenue.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7259300" y="-8974949"/>
            <a:ext cx="3351703" cy="11793621"/>
            <a:chOff x="0" y="0"/>
            <a:chExt cx="4468938" cy="15724828"/>
          </a:xfrm>
        </p:grpSpPr>
        <p:sp>
          <p:nvSpPr>
            <p:cNvPr name="Freeform 5" id="5"/>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0" id="10"/>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8"/>
            <a:stretch>
              <a:fillRect l="0" t="0" r="0" b="0"/>
            </a:stretch>
          </a:blipFill>
        </p:spPr>
      </p:sp>
      <p:sp>
        <p:nvSpPr>
          <p:cNvPr name="Freeform 11" id="11"/>
          <p:cNvSpPr/>
          <p:nvPr/>
        </p:nvSpPr>
        <p:spPr>
          <a:xfrm flipH="false" flipV="false" rot="0">
            <a:off x="788739" y="2661393"/>
            <a:ext cx="12289876" cy="4964214"/>
          </a:xfrm>
          <a:custGeom>
            <a:avLst/>
            <a:gdLst/>
            <a:ahLst/>
            <a:cxnLst/>
            <a:rect r="r" b="b" t="t" l="l"/>
            <a:pathLst>
              <a:path h="4964214" w="12289876">
                <a:moveTo>
                  <a:pt x="0" y="0"/>
                </a:moveTo>
                <a:lnTo>
                  <a:pt x="12289876" y="0"/>
                </a:lnTo>
                <a:lnTo>
                  <a:pt x="12289876" y="4964214"/>
                </a:lnTo>
                <a:lnTo>
                  <a:pt x="0" y="4964214"/>
                </a:lnTo>
                <a:lnTo>
                  <a:pt x="0" y="0"/>
                </a:lnTo>
                <a:close/>
              </a:path>
            </a:pathLst>
          </a:custGeom>
          <a:blipFill>
            <a:blip r:embed="rId9"/>
            <a:stretch>
              <a:fillRect l="0" t="0" r="0" b="0"/>
            </a:stretch>
          </a:blipFill>
        </p:spPr>
      </p:sp>
      <p:sp>
        <p:nvSpPr>
          <p:cNvPr name="Freeform 12" id="12"/>
          <p:cNvSpPr/>
          <p:nvPr/>
        </p:nvSpPr>
        <p:spPr>
          <a:xfrm flipH="false" flipV="false" rot="0">
            <a:off x="13898619" y="4948886"/>
            <a:ext cx="4057100" cy="4979168"/>
          </a:xfrm>
          <a:custGeom>
            <a:avLst/>
            <a:gdLst/>
            <a:ahLst/>
            <a:cxnLst/>
            <a:rect r="r" b="b" t="t" l="l"/>
            <a:pathLst>
              <a:path h="4979168" w="4057100">
                <a:moveTo>
                  <a:pt x="0" y="0"/>
                </a:moveTo>
                <a:lnTo>
                  <a:pt x="4057101" y="0"/>
                </a:lnTo>
                <a:lnTo>
                  <a:pt x="4057101" y="4979169"/>
                </a:lnTo>
                <a:lnTo>
                  <a:pt x="0" y="4979169"/>
                </a:lnTo>
                <a:lnTo>
                  <a:pt x="0" y="0"/>
                </a:lnTo>
                <a:close/>
              </a:path>
            </a:pathLst>
          </a:custGeom>
          <a:blipFill>
            <a:blip r:embed="rId10"/>
            <a:stretch>
              <a:fillRect l="0" t="0" r="0" b="0"/>
            </a:stretch>
          </a:blipFill>
        </p:spPr>
      </p:sp>
      <p:sp>
        <p:nvSpPr>
          <p:cNvPr name="TextBox 13" id="13"/>
          <p:cNvSpPr txBox="true"/>
          <p:nvPr/>
        </p:nvSpPr>
        <p:spPr>
          <a:xfrm rot="0">
            <a:off x="2625509" y="214292"/>
            <a:ext cx="12958867" cy="2023649"/>
          </a:xfrm>
          <a:prstGeom prst="rect">
            <a:avLst/>
          </a:prstGeom>
        </p:spPr>
        <p:txBody>
          <a:bodyPr anchor="t" rtlCol="false" tIns="0" lIns="0" bIns="0" rIns="0">
            <a:spAutoFit/>
          </a:bodyPr>
          <a:lstStyle/>
          <a:p>
            <a:pPr algn="ctr">
              <a:lnSpc>
                <a:spcPts val="8160"/>
              </a:lnSpc>
              <a:spcBef>
                <a:spcPct val="0"/>
              </a:spcBef>
            </a:pPr>
            <a:r>
              <a:rPr lang="en-US" b="true" sz="5828">
                <a:solidFill>
                  <a:srgbClr val="205E01"/>
                </a:solidFill>
                <a:latin typeface="TT Firs Neue Bold"/>
                <a:ea typeface="TT Firs Neue Bold"/>
                <a:cs typeface="TT Firs Neue Bold"/>
                <a:sym typeface="TT Firs Neue Bold"/>
              </a:rPr>
              <a:t>Analyze the cumulative revenue generated over time.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C23415"/>
        </a:solidFill>
      </p:bgPr>
    </p:bg>
    <p:spTree>
      <p:nvGrpSpPr>
        <p:cNvPr id="1" name=""/>
        <p:cNvGrpSpPr/>
        <p:nvPr/>
      </p:nvGrpSpPr>
      <p:grpSpPr>
        <a:xfrm>
          <a:off x="0" y="0"/>
          <a:ext cx="0" cy="0"/>
          <a:chOff x="0" y="0"/>
          <a:chExt cx="0" cy="0"/>
        </a:xfrm>
      </p:grpSpPr>
      <p:sp>
        <p:nvSpPr>
          <p:cNvPr name="Freeform 2" id="2"/>
          <p:cNvSpPr/>
          <p:nvPr/>
        </p:nvSpPr>
        <p:spPr>
          <a:xfrm flipH="false" flipV="false" rot="0">
            <a:off x="-5522220" y="-1858957"/>
            <a:ext cx="14670356" cy="9629088"/>
          </a:xfrm>
          <a:custGeom>
            <a:avLst/>
            <a:gdLst/>
            <a:ahLst/>
            <a:cxnLst/>
            <a:rect r="r" b="b" t="t" l="l"/>
            <a:pathLst>
              <a:path h="9629088" w="14670356">
                <a:moveTo>
                  <a:pt x="0" y="0"/>
                </a:moveTo>
                <a:lnTo>
                  <a:pt x="14670356" y="0"/>
                </a:lnTo>
                <a:lnTo>
                  <a:pt x="14670356" y="9629089"/>
                </a:lnTo>
                <a:lnTo>
                  <a:pt x="0" y="96290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812958" y="1495088"/>
            <a:ext cx="466091" cy="466091"/>
          </a:xfrm>
          <a:custGeom>
            <a:avLst/>
            <a:gdLst/>
            <a:ahLst/>
            <a:cxnLst/>
            <a:rect r="r" b="b" t="t" l="l"/>
            <a:pathLst>
              <a:path h="466091" w="466091">
                <a:moveTo>
                  <a:pt x="0" y="0"/>
                </a:moveTo>
                <a:lnTo>
                  <a:pt x="466091" y="0"/>
                </a:lnTo>
                <a:lnTo>
                  <a:pt x="466091" y="466090"/>
                </a:lnTo>
                <a:lnTo>
                  <a:pt x="0" y="466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7259300" y="-8974949"/>
            <a:ext cx="3351703" cy="11793621"/>
            <a:chOff x="0" y="0"/>
            <a:chExt cx="4468938" cy="15724828"/>
          </a:xfrm>
        </p:grpSpPr>
        <p:sp>
          <p:nvSpPr>
            <p:cNvPr name="Freeform 5" id="5"/>
            <p:cNvSpPr/>
            <p:nvPr/>
          </p:nvSpPr>
          <p:spPr>
            <a:xfrm flipH="false" flipV="false" rot="0">
              <a:off x="0" y="0"/>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3122736"/>
              <a:ext cx="4468938" cy="3233886"/>
            </a:xfrm>
            <a:custGeom>
              <a:avLst/>
              <a:gdLst/>
              <a:ahLst/>
              <a:cxnLst/>
              <a:rect r="r" b="b" t="t" l="l"/>
              <a:pathLst>
                <a:path h="3233886" w="4468938">
                  <a:moveTo>
                    <a:pt x="0" y="0"/>
                  </a:moveTo>
                  <a:lnTo>
                    <a:pt x="4468938" y="0"/>
                  </a:lnTo>
                  <a:lnTo>
                    <a:pt x="4468938" y="3233885"/>
                  </a:lnTo>
                  <a:lnTo>
                    <a:pt x="0" y="3233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6245471"/>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9368207"/>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0" y="12490942"/>
              <a:ext cx="4468938" cy="3233886"/>
            </a:xfrm>
            <a:custGeom>
              <a:avLst/>
              <a:gdLst/>
              <a:ahLst/>
              <a:cxnLst/>
              <a:rect r="r" b="b" t="t" l="l"/>
              <a:pathLst>
                <a:path h="3233886" w="4468938">
                  <a:moveTo>
                    <a:pt x="0" y="0"/>
                  </a:moveTo>
                  <a:lnTo>
                    <a:pt x="4468938" y="0"/>
                  </a:lnTo>
                  <a:lnTo>
                    <a:pt x="4468938" y="3233886"/>
                  </a:lnTo>
                  <a:lnTo>
                    <a:pt x="0" y="3233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0" id="10"/>
          <p:cNvSpPr/>
          <p:nvPr/>
        </p:nvSpPr>
        <p:spPr>
          <a:xfrm flipH="false" flipV="false" rot="-9642645">
            <a:off x="2655809" y="8558121"/>
            <a:ext cx="1026765" cy="1604321"/>
          </a:xfrm>
          <a:custGeom>
            <a:avLst/>
            <a:gdLst/>
            <a:ahLst/>
            <a:cxnLst/>
            <a:rect r="r" b="b" t="t" l="l"/>
            <a:pathLst>
              <a:path h="1604321" w="1026765">
                <a:moveTo>
                  <a:pt x="0" y="0"/>
                </a:moveTo>
                <a:lnTo>
                  <a:pt x="1026765" y="0"/>
                </a:lnTo>
                <a:lnTo>
                  <a:pt x="1026765" y="1604321"/>
                </a:lnTo>
                <a:lnTo>
                  <a:pt x="0" y="1604321"/>
                </a:lnTo>
                <a:lnTo>
                  <a:pt x="0" y="0"/>
                </a:lnTo>
                <a:close/>
              </a:path>
            </a:pathLst>
          </a:custGeom>
          <a:blipFill>
            <a:blip r:embed="rId8"/>
            <a:stretch>
              <a:fillRect l="0" t="0" r="0" b="0"/>
            </a:stretch>
          </a:blipFill>
        </p:spPr>
      </p:sp>
      <p:sp>
        <p:nvSpPr>
          <p:cNvPr name="Freeform 11" id="11"/>
          <p:cNvSpPr/>
          <p:nvPr/>
        </p:nvSpPr>
        <p:spPr>
          <a:xfrm flipH="false" flipV="false" rot="0">
            <a:off x="343258" y="3376765"/>
            <a:ext cx="12135979" cy="4020043"/>
          </a:xfrm>
          <a:custGeom>
            <a:avLst/>
            <a:gdLst/>
            <a:ahLst/>
            <a:cxnLst/>
            <a:rect r="r" b="b" t="t" l="l"/>
            <a:pathLst>
              <a:path h="4020043" w="12135979">
                <a:moveTo>
                  <a:pt x="0" y="0"/>
                </a:moveTo>
                <a:lnTo>
                  <a:pt x="12135979" y="0"/>
                </a:lnTo>
                <a:lnTo>
                  <a:pt x="12135979" y="4020043"/>
                </a:lnTo>
                <a:lnTo>
                  <a:pt x="0" y="4020043"/>
                </a:lnTo>
                <a:lnTo>
                  <a:pt x="0" y="0"/>
                </a:lnTo>
                <a:close/>
              </a:path>
            </a:pathLst>
          </a:custGeom>
          <a:blipFill>
            <a:blip r:embed="rId9"/>
            <a:stretch>
              <a:fillRect l="0" t="0" r="0" b="0"/>
            </a:stretch>
          </a:blipFill>
        </p:spPr>
      </p:sp>
      <p:sp>
        <p:nvSpPr>
          <p:cNvPr name="Freeform 12" id="12"/>
          <p:cNvSpPr/>
          <p:nvPr/>
        </p:nvSpPr>
        <p:spPr>
          <a:xfrm flipH="false" flipV="false" rot="0">
            <a:off x="12705874" y="5143500"/>
            <a:ext cx="5372358" cy="4862399"/>
          </a:xfrm>
          <a:custGeom>
            <a:avLst/>
            <a:gdLst/>
            <a:ahLst/>
            <a:cxnLst/>
            <a:rect r="r" b="b" t="t" l="l"/>
            <a:pathLst>
              <a:path h="4862399" w="5372358">
                <a:moveTo>
                  <a:pt x="0" y="0"/>
                </a:moveTo>
                <a:lnTo>
                  <a:pt x="5372357" y="0"/>
                </a:lnTo>
                <a:lnTo>
                  <a:pt x="5372357" y="4862399"/>
                </a:lnTo>
                <a:lnTo>
                  <a:pt x="0" y="4862399"/>
                </a:lnTo>
                <a:lnTo>
                  <a:pt x="0" y="0"/>
                </a:lnTo>
                <a:close/>
              </a:path>
            </a:pathLst>
          </a:custGeom>
          <a:blipFill>
            <a:blip r:embed="rId10"/>
            <a:stretch>
              <a:fillRect l="0" t="0" r="0" b="0"/>
            </a:stretch>
          </a:blipFill>
        </p:spPr>
      </p:sp>
      <p:sp>
        <p:nvSpPr>
          <p:cNvPr name="TextBox 13" id="13"/>
          <p:cNvSpPr txBox="true"/>
          <p:nvPr/>
        </p:nvSpPr>
        <p:spPr>
          <a:xfrm rot="0">
            <a:off x="2625509" y="214292"/>
            <a:ext cx="12958867" cy="3052349"/>
          </a:xfrm>
          <a:prstGeom prst="rect">
            <a:avLst/>
          </a:prstGeom>
        </p:spPr>
        <p:txBody>
          <a:bodyPr anchor="t" rtlCol="false" tIns="0" lIns="0" bIns="0" rIns="0">
            <a:spAutoFit/>
          </a:bodyPr>
          <a:lstStyle/>
          <a:p>
            <a:pPr algn="ctr">
              <a:lnSpc>
                <a:spcPts val="8160"/>
              </a:lnSpc>
              <a:spcBef>
                <a:spcPct val="0"/>
              </a:spcBef>
            </a:pPr>
            <a:r>
              <a:rPr lang="en-US" b="true" sz="5828">
                <a:solidFill>
                  <a:srgbClr val="205E01"/>
                </a:solidFill>
                <a:latin typeface="TT Firs Neue Bold"/>
                <a:ea typeface="TT Firs Neue Bold"/>
                <a:cs typeface="TT Firs Neue Bold"/>
                <a:sym typeface="TT Firs Neue Bold"/>
              </a:rPr>
              <a:t>Determine the top 3 most ordered pizza types based on revenue for each pizza category.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DAHYE-CoXGQ</dc:identifier>
  <dcterms:modified xsi:type="dcterms:W3CDTF">2011-08-01T06:04:30Z</dcterms:modified>
  <cp:revision>1</cp:revision>
  <dc:title>Red and Yellow Modern Pizza Product Presentation</dc:title>
</cp:coreProperties>
</file>